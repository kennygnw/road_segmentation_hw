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6447-78BE-47D3-B6AB-5E08765DE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FA14A4-584F-456C-B76B-6F32E66F1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012A2-16FF-4080-9AA0-0BC69F8B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A3D66-6F87-41E3-9E18-416E5E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F40C7-008F-4CD3-9CE9-BB3A523F0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436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49CD-834E-4395-A8BF-0A8CD2D2E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7B9C5-6530-4F38-9301-68EBE12C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AB9A6-204A-4501-BD31-3ED4CE24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1A95-4545-41D6-8F30-A862A55F9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DE74B-0A55-4460-B6A0-466F90D2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46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F054-96D7-49AF-884B-4C179D0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AA281-D0A0-496C-BC88-BC69CBA61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482BF-5933-44A7-9B66-D0ED4936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EFC63-7B2C-410A-8F81-41CDD6E4A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15DAB-532A-4C07-8F8B-D007D9C8B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77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AD18-45EB-4D71-AC08-76EC40DBA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B1A-46DA-4DCB-A6D2-86A736194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6E40-D3BB-4856-BD18-BE47AABFD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EC1BD-3D79-454E-B8FC-BF8A8128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7EBD4A-361E-42AC-95EC-031B829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BB12C-55EC-4C47-830F-EA4F6307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373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7D07-0825-4711-B86E-52AEFF1F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865F1-893E-4D48-937C-960636CC1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8DE1A-45C9-4731-A3AB-9E573AB23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3962E-B14B-4728-B00E-C4121B66D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2499ED-D6E1-4EFC-B187-4F7755E81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48F0B-8640-4BAD-8955-852F8B2B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68012-3C56-4A15-BE32-62AE5E1C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ECBA3-8486-46E8-9566-0EB463D5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91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055C6-3C7E-4528-AFE5-5ED6A7E3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3BD2-1B1A-4143-9B7C-97C4CC1B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56F52D-B00A-4B65-B83A-1289D1DF4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EA9B5-E4A5-4846-A594-FFB6169D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669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C4639-A7FF-4E7E-80DB-1E2FB1EA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A5E33-034E-4A1F-B376-A565F4C4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58FA-8857-4E94-ADB7-7F12AD03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4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1D96-87D3-4389-A782-9CEFA0A1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F88FF-456C-43D9-B840-0541CA277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FEC6D-E7E3-4534-9971-4D6059C1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E0128-DD26-49AE-8A34-C65C4EB1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1FB6A-54D1-46BA-A761-A1AE2037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E2C47-508E-49BA-8D67-14110FAC1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57F5-5A1F-45BF-A16A-83EAED4E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F731-0C0B-4218-B10A-E677BEF2D6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6957-6D68-4EDE-A917-D5E168CF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189B0-73C7-4A9D-8C11-BFB3DF14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F053B-B1EB-4BB1-B509-E8237755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D9C2E-A1AF-495D-8AEE-499EB4E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05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3582-412B-41FF-BF32-91231885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4E82F-B305-4689-A068-7857689A1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F67EE-2C63-420E-B7E9-D2F393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8E1BF-6C96-4086-B5C0-88E29596F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2D955-938A-4BAD-9FC5-A1303E4EA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708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9A96-694B-4994-B436-4F14BBBCD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CB741A-B2E5-4339-9B82-8376321D2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9F5E0-F8DB-4E51-9851-D5FEB224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0F8D6-81A6-42F3-9A43-050760F7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7A2AC-46E2-4D4A-9E87-6899E02C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52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576B-DAE7-4A8A-A5D0-585BB6316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60CD3-395D-4AD3-A8E3-112894B0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41E24-7D07-4CAD-BED6-8F913A192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47A6F-3EBE-4C73-A7AD-6A61AF5187C9}" type="datetimeFigureOut">
              <a:rPr lang="zh-TW" altLang="en-US" smtClean="0"/>
              <a:t>2024/10/24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13418-8E44-4FEA-9356-2B0592617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BB192-01BC-4264-B9C0-7F21A7220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22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DAF0-003E-437F-A70D-11462AF28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Image Segmentation of Concrete Roads</a:t>
            </a:r>
            <a:endParaRPr lang="zh-TW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C5952-8224-4145-8B66-41925C8D42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93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325B-31E5-41DC-93DE-054EDED2B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Requirement</a:t>
            </a:r>
            <a:endParaRPr lang="zh-TW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3F8999-EB39-433F-BAB5-22456FE47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964271" cy="4351338"/>
          </a:xfrm>
        </p:spPr>
        <p:txBody>
          <a:bodyPr/>
          <a:lstStyle/>
          <a:p>
            <a:pPr lvl="1">
              <a:lnSpc>
                <a:spcPct val="200000"/>
              </a:lnSpc>
            </a:pPr>
            <a:r>
              <a:rPr lang="zh-TW" altLang="en-US" dirty="0"/>
              <a:t>馬路分割</a:t>
            </a:r>
            <a:endParaRPr lang="en-US" altLang="zh-TW" dirty="0"/>
          </a:p>
          <a:p>
            <a:pPr lvl="1">
              <a:lnSpc>
                <a:spcPct val="200000"/>
              </a:lnSpc>
            </a:pPr>
            <a:r>
              <a:rPr lang="zh-TW" altLang="en-US" dirty="0"/>
              <a:t>使用</a:t>
            </a:r>
            <a:r>
              <a:rPr lang="en-US" altLang="zh-TW" dirty="0"/>
              <a:t>LBP</a:t>
            </a:r>
            <a:r>
              <a:rPr lang="zh-TW" altLang="en-US" dirty="0"/>
              <a:t>和</a:t>
            </a:r>
            <a:r>
              <a:rPr lang="en-US" altLang="zh-TW" dirty="0"/>
              <a:t>BFS</a:t>
            </a:r>
            <a:r>
              <a:rPr lang="zh-TW" altLang="en-US" dirty="0"/>
              <a:t>或</a:t>
            </a:r>
            <a:r>
              <a:rPr lang="en-US" altLang="zh-TW" dirty="0"/>
              <a:t>DFS</a:t>
            </a:r>
          </a:p>
        </p:txBody>
      </p:sp>
    </p:spTree>
    <p:extLst>
      <p:ext uri="{BB962C8B-B14F-4D97-AF65-F5344CB8AC3E}">
        <p14:creationId xmlns:p14="http://schemas.microsoft.com/office/powerpoint/2010/main" val="6721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7A478E1C-5D24-43B3-91F2-36D6F099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76" y="427878"/>
            <a:ext cx="10515600" cy="1325563"/>
          </a:xfrm>
        </p:spPr>
        <p:txBody>
          <a:bodyPr/>
          <a:lstStyle/>
          <a:p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9D72EA-E656-406B-A49B-C116DB539AC4}"/>
              </a:ext>
            </a:extLst>
          </p:cNvPr>
          <p:cNvSpPr/>
          <p:nvPr/>
        </p:nvSpPr>
        <p:spPr>
          <a:xfrm>
            <a:off x="174063" y="4878174"/>
            <a:ext cx="1985188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抓邊 </a:t>
            </a:r>
            <a:r>
              <a:rPr lang="en-US" altLang="zh-TW" dirty="0"/>
              <a:t>(Sobel)</a:t>
            </a:r>
            <a:endParaRPr lang="zh-TW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22FEF-8B05-4AB8-A4F4-D3A596A76857}"/>
              </a:ext>
            </a:extLst>
          </p:cNvPr>
          <p:cNvSpPr/>
          <p:nvPr/>
        </p:nvSpPr>
        <p:spPr>
          <a:xfrm>
            <a:off x="2399427" y="3720848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</a:t>
            </a:r>
            <a:r>
              <a:rPr lang="zh-TW" altLang="en-US" dirty="0"/>
              <a:t>計算</a:t>
            </a:r>
            <a:r>
              <a:rPr lang="en-US" altLang="zh-TW" dirty="0"/>
              <a:t>Sobel</a:t>
            </a:r>
            <a:r>
              <a:rPr lang="zh-TW" altLang="en-US" dirty="0"/>
              <a:t>結果的紋路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F8F078-9CA8-4AC6-BEAF-8EAA6BF8ACE9}"/>
              </a:ext>
            </a:extLst>
          </p:cNvPr>
          <p:cNvSpPr/>
          <p:nvPr/>
        </p:nvSpPr>
        <p:spPr>
          <a:xfrm>
            <a:off x="10713099" y="3727695"/>
            <a:ext cx="116513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上色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A11E-4E6C-4E82-8900-DA2B7E229212}"/>
              </a:ext>
            </a:extLst>
          </p:cNvPr>
          <p:cNvSpPr/>
          <p:nvPr/>
        </p:nvSpPr>
        <p:spPr>
          <a:xfrm>
            <a:off x="7720002" y="371991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馬路搜尋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DF0E32-EA4F-4E27-9904-33BCFC02D9A0}"/>
              </a:ext>
            </a:extLst>
          </p:cNvPr>
          <p:cNvSpPr/>
          <p:nvPr/>
        </p:nvSpPr>
        <p:spPr>
          <a:xfrm>
            <a:off x="8553724" y="491664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計算</a:t>
            </a:r>
            <a:r>
              <a:rPr lang="en-US" altLang="zh-TW" dirty="0"/>
              <a:t>hist</a:t>
            </a:r>
            <a:r>
              <a:rPr lang="zh-TW" altLang="en-US" dirty="0"/>
              <a:t> </a:t>
            </a:r>
            <a:r>
              <a:rPr lang="en-US" altLang="zh-TW" dirty="0"/>
              <a:t>top N </a:t>
            </a:r>
            <a:r>
              <a:rPr lang="zh-TW" altLang="en-US" dirty="0"/>
              <a:t>距離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1E0469-AF54-4417-AF90-5E89292F642C}"/>
              </a:ext>
            </a:extLst>
          </p:cNvPr>
          <p:cNvSpPr/>
          <p:nvPr/>
        </p:nvSpPr>
        <p:spPr>
          <a:xfrm>
            <a:off x="7890057" y="1279648"/>
            <a:ext cx="2243662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取</a:t>
            </a:r>
            <a:r>
              <a:rPr lang="en-US" altLang="zh-TW" dirty="0"/>
              <a:t>hist</a:t>
            </a:r>
            <a:r>
              <a:rPr lang="zh-TW" altLang="en-US" dirty="0"/>
              <a:t>前</a:t>
            </a:r>
            <a:r>
              <a:rPr lang="en-US" altLang="zh-TW" dirty="0"/>
              <a:t>N</a:t>
            </a:r>
            <a:r>
              <a:rPr lang="zh-TW" altLang="en-US" dirty="0"/>
              <a:t>元素最高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847CBB-A3A6-4DA6-B58F-7D4CA395B3BC}"/>
              </a:ext>
            </a:extLst>
          </p:cNvPr>
          <p:cNvSpPr/>
          <p:nvPr/>
        </p:nvSpPr>
        <p:spPr>
          <a:xfrm>
            <a:off x="4624543" y="1528112"/>
            <a:ext cx="2243666" cy="85238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馬路分割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A1CAAE4-868D-4833-AC78-3AFFEA88A408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rot="5400000">
            <a:off x="2786343" y="760815"/>
            <a:ext cx="1340348" cy="457971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6290EDF-5EF2-47E7-9FFE-41B69A333D0F}"/>
              </a:ext>
            </a:extLst>
          </p:cNvPr>
          <p:cNvSpPr/>
          <p:nvPr/>
        </p:nvSpPr>
        <p:spPr>
          <a:xfrm>
            <a:off x="174063" y="3720848"/>
            <a:ext cx="1985188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前處理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AD54F72-2A70-469C-9336-0762C55E0BF5}"/>
              </a:ext>
            </a:extLst>
          </p:cNvPr>
          <p:cNvCxnSpPr>
            <a:stCxn id="19" idx="2"/>
            <a:endCxn id="24" idx="0"/>
          </p:cNvCxnSpPr>
          <p:nvPr/>
        </p:nvCxnSpPr>
        <p:spPr>
          <a:xfrm>
            <a:off x="1166657" y="4338914"/>
            <a:ext cx="0" cy="5392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81376B8-B122-43AE-BDFC-98CFA5F212A7}"/>
              </a:ext>
            </a:extLst>
          </p:cNvPr>
          <p:cNvCxnSpPr>
            <a:cxnSpLocks/>
            <a:stCxn id="10" idx="2"/>
            <a:endCxn id="25" idx="0"/>
          </p:cNvCxnSpPr>
          <p:nvPr/>
        </p:nvCxnSpPr>
        <p:spPr>
          <a:xfrm rot="5400000">
            <a:off x="3963644" y="1938116"/>
            <a:ext cx="1340348" cy="222511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63125-3B1E-4DD7-A1C0-F9B063EC5445}"/>
              </a:ext>
            </a:extLst>
          </p:cNvPr>
          <p:cNvSpPr/>
          <p:nvPr/>
        </p:nvSpPr>
        <p:spPr>
          <a:xfrm>
            <a:off x="5037800" y="371991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紋路統計 </a:t>
            </a:r>
            <a:r>
              <a:rPr lang="en-US" altLang="zh-TW" dirty="0"/>
              <a:t>(histogram)</a:t>
            </a:r>
            <a:endParaRPr lang="zh-TW" altLang="en-US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BE21781-5841-41A9-B1C4-5E6C1CFB308B}"/>
              </a:ext>
            </a:extLst>
          </p:cNvPr>
          <p:cNvCxnSpPr>
            <a:cxnSpLocks/>
            <a:stCxn id="10" idx="2"/>
            <a:endCxn id="41" idx="0"/>
          </p:cNvCxnSpPr>
          <p:nvPr/>
        </p:nvCxnSpPr>
        <p:spPr>
          <a:xfrm rot="16200000" flipH="1">
            <a:off x="5283299" y="2843576"/>
            <a:ext cx="1339411" cy="413257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E4C6C4-D62D-4CA6-8CEC-5E33587678BB}"/>
              </a:ext>
            </a:extLst>
          </p:cNvPr>
          <p:cNvCxnSpPr>
            <a:cxnSpLocks/>
            <a:stCxn id="10" idx="2"/>
            <a:endCxn id="28" idx="0"/>
          </p:cNvCxnSpPr>
          <p:nvPr/>
        </p:nvCxnSpPr>
        <p:spPr>
          <a:xfrm rot="16200000" flipH="1">
            <a:off x="6624400" y="1502475"/>
            <a:ext cx="1339411" cy="309545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57F239F-F800-48E5-A32C-6D3A9192AB93}"/>
              </a:ext>
            </a:extLst>
          </p:cNvPr>
          <p:cNvSpPr/>
          <p:nvPr/>
        </p:nvSpPr>
        <p:spPr>
          <a:xfrm>
            <a:off x="7676171" y="4916642"/>
            <a:ext cx="670120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  <a:endParaRPr lang="zh-TW" altLang="en-US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E4B5AEE5-39BE-4858-867D-C2E45DD5D64C}"/>
              </a:ext>
            </a:extLst>
          </p:cNvPr>
          <p:cNvCxnSpPr>
            <a:cxnSpLocks/>
            <a:stCxn id="28" idx="2"/>
            <a:endCxn id="55" idx="0"/>
          </p:cNvCxnSpPr>
          <p:nvPr/>
        </p:nvCxnSpPr>
        <p:spPr>
          <a:xfrm rot="5400000">
            <a:off x="8137201" y="4212007"/>
            <a:ext cx="578665" cy="83060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D8D244EF-4256-4681-AAFA-7665C236390C}"/>
              </a:ext>
            </a:extLst>
          </p:cNvPr>
          <p:cNvSpPr/>
          <p:nvPr/>
        </p:nvSpPr>
        <p:spPr>
          <a:xfrm>
            <a:off x="7890057" y="287738"/>
            <a:ext cx="2243662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Sort</a:t>
            </a:r>
            <a:r>
              <a:rPr lang="zh-TW" altLang="en-US" dirty="0"/>
              <a:t> </a:t>
            </a:r>
            <a:r>
              <a:rPr lang="en-US" altLang="zh-TW" dirty="0"/>
              <a:t>hist</a:t>
            </a:r>
            <a:r>
              <a:rPr lang="zh-TW" altLang="en-US" dirty="0"/>
              <a:t> 的元素最高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4046D0B-D33A-4CD8-8907-001123409DF1}"/>
              </a:ext>
            </a:extLst>
          </p:cNvPr>
          <p:cNvCxnSpPr>
            <a:cxnSpLocks/>
            <a:stCxn id="81" idx="2"/>
            <a:endCxn id="31" idx="0"/>
          </p:cNvCxnSpPr>
          <p:nvPr/>
        </p:nvCxnSpPr>
        <p:spPr>
          <a:xfrm>
            <a:off x="9011888" y="905804"/>
            <a:ext cx="0" cy="3738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821458F-6FCA-47C9-985D-F62236245139}"/>
              </a:ext>
            </a:extLst>
          </p:cNvPr>
          <p:cNvCxnSpPr>
            <a:cxnSpLocks/>
          </p:cNvCxnSpPr>
          <p:nvPr/>
        </p:nvCxnSpPr>
        <p:spPr>
          <a:xfrm rot="5400000">
            <a:off x="8137201" y="4212008"/>
            <a:ext cx="578665" cy="83060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4461CAC6-61CB-4335-AE6D-5D1904D3DF1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16200000" flipH="1">
            <a:off x="8969364" y="4210448"/>
            <a:ext cx="578664" cy="83372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88227769-DFE2-417F-9B7F-FE946A3406B1}"/>
              </a:ext>
            </a:extLst>
          </p:cNvPr>
          <p:cNvSpPr/>
          <p:nvPr/>
        </p:nvSpPr>
        <p:spPr>
          <a:xfrm>
            <a:off x="8553724" y="5703732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距離是否超過</a:t>
            </a:r>
            <a:r>
              <a:rPr lang="en-US" altLang="zh-TW" dirty="0"/>
              <a:t>threshold</a:t>
            </a:r>
            <a:endParaRPr lang="zh-TW" altLang="en-US" dirty="0"/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F0E57192-148A-4197-8A05-AAB437A231DA}"/>
              </a:ext>
            </a:extLst>
          </p:cNvPr>
          <p:cNvCxnSpPr>
            <a:cxnSpLocks/>
            <a:stCxn id="29" idx="2"/>
            <a:endCxn id="115" idx="0"/>
          </p:cNvCxnSpPr>
          <p:nvPr/>
        </p:nvCxnSpPr>
        <p:spPr>
          <a:xfrm>
            <a:off x="9675557" y="5534707"/>
            <a:ext cx="0" cy="1690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5FF575A9-C470-4BCD-850A-63BA04E32426}"/>
              </a:ext>
            </a:extLst>
          </p:cNvPr>
          <p:cNvCxnSpPr>
            <a:cxnSpLocks/>
            <a:stCxn id="10" idx="2"/>
            <a:endCxn id="27" idx="0"/>
          </p:cNvCxnSpPr>
          <p:nvPr/>
        </p:nvCxnSpPr>
        <p:spPr>
          <a:xfrm rot="16200000" flipH="1">
            <a:off x="7847424" y="279451"/>
            <a:ext cx="1347195" cy="554929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28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22">
            <a:extLst>
              <a:ext uri="{FF2B5EF4-FFF2-40B4-BE49-F238E27FC236}">
                <a16:creationId xmlns:a16="http://schemas.microsoft.com/office/drawing/2014/main" id="{B36EACDE-308A-4B31-A072-34C025963FCD}"/>
              </a:ext>
            </a:extLst>
          </p:cNvPr>
          <p:cNvSpPr txBox="1"/>
          <p:nvPr/>
        </p:nvSpPr>
        <p:spPr>
          <a:xfrm>
            <a:off x="2459961" y="172623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8CA57A1-AEF7-4B3B-AE19-752AEBF45152}"/>
              </a:ext>
            </a:extLst>
          </p:cNvPr>
          <p:cNvSpPr txBox="1"/>
          <p:nvPr/>
        </p:nvSpPr>
        <p:spPr>
          <a:xfrm>
            <a:off x="2454438" y="1966711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6F336EC-A77E-4B43-B760-845EF2348977}"/>
              </a:ext>
            </a:extLst>
          </p:cNvPr>
          <p:cNvSpPr txBox="1"/>
          <p:nvPr/>
        </p:nvSpPr>
        <p:spPr>
          <a:xfrm>
            <a:off x="2454438" y="2229342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04BBAC0-3021-4DE3-BC4B-D59B1D51BC5C}"/>
              </a:ext>
            </a:extLst>
          </p:cNvPr>
          <p:cNvSpPr txBox="1"/>
          <p:nvPr/>
        </p:nvSpPr>
        <p:spPr>
          <a:xfrm>
            <a:off x="2454438" y="2468963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CAE6C29-BE2F-4633-AD04-18E30E8A273F}"/>
              </a:ext>
            </a:extLst>
          </p:cNvPr>
          <p:cNvSpPr txBox="1"/>
          <p:nvPr/>
        </p:nvSpPr>
        <p:spPr>
          <a:xfrm>
            <a:off x="2454328" y="151452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980995" y="3237982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3139996" y="3237985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 Algorithm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2A6E28-F555-4589-A05F-6B7EEBE7A436}"/>
              </a:ext>
            </a:extLst>
          </p:cNvPr>
          <p:cNvSpPr/>
          <p:nvPr/>
        </p:nvSpPr>
        <p:spPr>
          <a:xfrm>
            <a:off x="7678833" y="3198711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Histogram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382C9C-8A08-43D9-BB2D-9F48C14647D2}"/>
              </a:ext>
            </a:extLst>
          </p:cNvPr>
          <p:cNvSpPr/>
          <p:nvPr/>
        </p:nvSpPr>
        <p:spPr>
          <a:xfrm>
            <a:off x="10050096" y="3198708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Sort &amp; Get S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951075" y="5113410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1-norm Distance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607EDC-9401-4CAC-BA2D-87C6790E9880}"/>
              </a:ext>
            </a:extLst>
          </p:cNvPr>
          <p:cNvCxnSpPr/>
          <p:nvPr/>
        </p:nvCxnSpPr>
        <p:spPr>
          <a:xfrm>
            <a:off x="396794" y="3906303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78" y="3237984"/>
            <a:ext cx="705827" cy="28044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D27FA63-F8F3-482A-B653-642080FE423B}"/>
              </a:ext>
            </a:extLst>
          </p:cNvPr>
          <p:cNvCxnSpPr>
            <a:cxnSpLocks/>
          </p:cNvCxnSpPr>
          <p:nvPr/>
        </p:nvCxnSpPr>
        <p:spPr>
          <a:xfrm>
            <a:off x="2310260" y="3906303"/>
            <a:ext cx="8297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0" y="299204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2BF97E-D781-4E87-BDB4-A89F7A66F029}"/>
              </a:ext>
            </a:extLst>
          </p:cNvPr>
          <p:cNvSpPr txBox="1"/>
          <p:nvPr/>
        </p:nvSpPr>
        <p:spPr>
          <a:xfrm>
            <a:off x="30609" y="361692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92105E-F229-4296-A194-5FEB917B022A}"/>
              </a:ext>
            </a:extLst>
          </p:cNvPr>
          <p:cNvSpPr txBox="1"/>
          <p:nvPr/>
        </p:nvSpPr>
        <p:spPr>
          <a:xfrm>
            <a:off x="2268255" y="362249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Image</a:t>
            </a:r>
            <a:endParaRPr lang="zh-TW" altLang="en-US" sz="12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EDA9F99-B45B-41D7-9A7A-2A76AD46BBC6}"/>
              </a:ext>
            </a:extLst>
          </p:cNvPr>
          <p:cNvCxnSpPr>
            <a:cxnSpLocks/>
          </p:cNvCxnSpPr>
          <p:nvPr/>
        </p:nvCxnSpPr>
        <p:spPr>
          <a:xfrm>
            <a:off x="4469261" y="3893919"/>
            <a:ext cx="9846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151ED0C-8E49-4CFA-9531-A2A841F4A31A}"/>
              </a:ext>
            </a:extLst>
          </p:cNvPr>
          <p:cNvSpPr txBox="1"/>
          <p:nvPr/>
        </p:nvSpPr>
        <p:spPr>
          <a:xfrm>
            <a:off x="4435149" y="3616919"/>
            <a:ext cx="1051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highlight>
                  <a:srgbClr val="FFFF00"/>
                </a:highlight>
              </a:rPr>
              <a:t>Complete Image LBP Array</a:t>
            </a:r>
            <a:endParaRPr lang="zh-TW" altLang="en-US" sz="1200" dirty="0">
              <a:highlight>
                <a:srgbClr val="FFFF00"/>
              </a:highlight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3C8EFA-17FD-4664-A97D-327B19B4BC1C}"/>
              </a:ext>
            </a:extLst>
          </p:cNvPr>
          <p:cNvCxnSpPr>
            <a:cxnSpLocks/>
          </p:cNvCxnSpPr>
          <p:nvPr/>
        </p:nvCxnSpPr>
        <p:spPr>
          <a:xfrm>
            <a:off x="9008098" y="3880155"/>
            <a:ext cx="1041998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7D6088B-2B58-4851-8C4D-0761F53C9D40}"/>
              </a:ext>
            </a:extLst>
          </p:cNvPr>
          <p:cNvSpPr txBox="1"/>
          <p:nvPr/>
        </p:nvSpPr>
        <p:spPr>
          <a:xfrm>
            <a:off x="9003268" y="3230844"/>
            <a:ext cx="1051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Histograms [256]</a:t>
            </a:r>
            <a:endParaRPr lang="zh-TW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4E0028-B38D-4B69-8B88-020DE4E2D4AA}"/>
              </a:ext>
            </a:extLst>
          </p:cNvPr>
          <p:cNvSpPr txBox="1"/>
          <p:nvPr/>
        </p:nvSpPr>
        <p:spPr>
          <a:xfrm>
            <a:off x="5548356" y="5768211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 Location</a:t>
            </a:r>
            <a:endParaRPr lang="zh-TW" alt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2D49ADD-F224-4852-BF94-D8D4C6D90463}"/>
              </a:ext>
            </a:extLst>
          </p:cNvPr>
          <p:cNvSpPr/>
          <p:nvPr/>
        </p:nvSpPr>
        <p:spPr>
          <a:xfrm>
            <a:off x="5435703" y="3198707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94A002C0-6EAA-45DE-9C35-041FBC062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06" y="3014541"/>
            <a:ext cx="756255" cy="51418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593095-55CC-47C3-9B76-11A8FB97F450}"/>
              </a:ext>
            </a:extLst>
          </p:cNvPr>
          <p:cNvSpPr txBox="1"/>
          <p:nvPr/>
        </p:nvSpPr>
        <p:spPr>
          <a:xfrm>
            <a:off x="4618438" y="2752322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977" y="3153953"/>
            <a:ext cx="530397" cy="52430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4842442" y="2921796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</p:cNvCxnSpPr>
          <p:nvPr/>
        </p:nvCxnSpPr>
        <p:spPr>
          <a:xfrm rot="10800000" flipV="1">
            <a:off x="951076" y="4290728"/>
            <a:ext cx="10901772" cy="1051781"/>
          </a:xfrm>
          <a:prstGeom prst="bentConnector3">
            <a:avLst>
              <a:gd name="adj1" fmla="val 10358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EEEC336-CEE7-4BF8-9956-06C42C61CC91}"/>
              </a:ext>
            </a:extLst>
          </p:cNvPr>
          <p:cNvCxnSpPr>
            <a:cxnSpLocks/>
          </p:cNvCxnSpPr>
          <p:nvPr/>
        </p:nvCxnSpPr>
        <p:spPr>
          <a:xfrm>
            <a:off x="6764968" y="3880469"/>
            <a:ext cx="913865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DC88130-8D06-4CBA-A3E3-F31F66EE5ACF}"/>
              </a:ext>
            </a:extLst>
          </p:cNvPr>
          <p:cNvSpPr txBox="1"/>
          <p:nvPr/>
        </p:nvSpPr>
        <p:spPr>
          <a:xfrm>
            <a:off x="6696666" y="3601905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 x N matrices</a:t>
            </a:r>
            <a:endParaRPr lang="zh-TW" altLang="en-US" sz="1200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6169CE9-8FAE-46AC-80BC-814ADB733D3C}"/>
              </a:ext>
            </a:extLst>
          </p:cNvPr>
          <p:cNvCxnSpPr>
            <a:cxnSpLocks/>
          </p:cNvCxnSpPr>
          <p:nvPr/>
        </p:nvCxnSpPr>
        <p:spPr>
          <a:xfrm>
            <a:off x="11379361" y="3416103"/>
            <a:ext cx="47348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129F807-58F5-41E5-9DE5-01A62828B21B}"/>
              </a:ext>
            </a:extLst>
          </p:cNvPr>
          <p:cNvCxnSpPr>
            <a:cxnSpLocks/>
          </p:cNvCxnSpPr>
          <p:nvPr/>
        </p:nvCxnSpPr>
        <p:spPr>
          <a:xfrm flipV="1">
            <a:off x="11852848" y="3416103"/>
            <a:ext cx="0" cy="87462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DE777B6-8988-4351-B3ED-7E23161769D3}"/>
              </a:ext>
            </a:extLst>
          </p:cNvPr>
          <p:cNvCxnSpPr>
            <a:cxnSpLocks/>
          </p:cNvCxnSpPr>
          <p:nvPr/>
        </p:nvCxnSpPr>
        <p:spPr>
          <a:xfrm>
            <a:off x="11379361" y="3590751"/>
            <a:ext cx="67583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ADF2483-3590-48F9-B54E-18849A7D2DE8}"/>
              </a:ext>
            </a:extLst>
          </p:cNvPr>
          <p:cNvCxnSpPr>
            <a:cxnSpLocks/>
          </p:cNvCxnSpPr>
          <p:nvPr/>
        </p:nvCxnSpPr>
        <p:spPr>
          <a:xfrm flipV="1">
            <a:off x="12055198" y="3590751"/>
            <a:ext cx="0" cy="113120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8FC66EB-DF4D-4AFF-9DEA-768E2B368AE7}"/>
              </a:ext>
            </a:extLst>
          </p:cNvPr>
          <p:cNvCxnSpPr>
            <a:cxnSpLocks/>
          </p:cNvCxnSpPr>
          <p:nvPr/>
        </p:nvCxnSpPr>
        <p:spPr>
          <a:xfrm rot="10800000" flipV="1">
            <a:off x="942698" y="4721957"/>
            <a:ext cx="11112501" cy="1027445"/>
          </a:xfrm>
          <a:prstGeom prst="bentConnector3">
            <a:avLst>
              <a:gd name="adj1" fmla="val 105337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8B655CD-D3C2-4887-9F42-05632D544D9F}"/>
              </a:ext>
            </a:extLst>
          </p:cNvPr>
          <p:cNvSpPr txBox="1"/>
          <p:nvPr/>
        </p:nvSpPr>
        <p:spPr>
          <a:xfrm>
            <a:off x="2310259" y="4256168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Current Top 3 Mode [S,2]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D5EBF99-FB24-47E2-83DA-C108FA042BA8}"/>
              </a:ext>
            </a:extLst>
          </p:cNvPr>
          <p:cNvSpPr txBox="1"/>
          <p:nvPr/>
        </p:nvSpPr>
        <p:spPr>
          <a:xfrm>
            <a:off x="2310260" y="4695835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Previous Top 3 Mode [S,2]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ADF2299-0EA0-48BB-8860-B16BECABAE80}"/>
              </a:ext>
            </a:extLst>
          </p:cNvPr>
          <p:cNvSpPr/>
          <p:nvPr/>
        </p:nvSpPr>
        <p:spPr>
          <a:xfrm>
            <a:off x="4146225" y="5113409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Compare Distance Difference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56E8D564-F528-4E1B-9117-7EEAB9C0F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933" y="2877156"/>
            <a:ext cx="530397" cy="52430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4AFFD503-DFBE-44A9-99B8-8276EFDF98E6}"/>
              </a:ext>
            </a:extLst>
          </p:cNvPr>
          <p:cNvSpPr txBox="1"/>
          <p:nvPr/>
        </p:nvSpPr>
        <p:spPr>
          <a:xfrm>
            <a:off x="9430295" y="2638296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/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1400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zh-TW" alt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1400" i="0"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blipFill>
                <a:blip r:embed="rId5"/>
                <a:stretch>
                  <a:fillRect l="-14603" t="-132955" r="-1270" b="-2056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66AA057-3ACF-4188-ACA3-DC76A7B35AF9}"/>
              </a:ext>
            </a:extLst>
          </p:cNvPr>
          <p:cNvCxnSpPr>
            <a:cxnSpLocks/>
          </p:cNvCxnSpPr>
          <p:nvPr/>
        </p:nvCxnSpPr>
        <p:spPr>
          <a:xfrm>
            <a:off x="2280340" y="5744300"/>
            <a:ext cx="188477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C6809B43-FFF5-4EE9-BE97-D47B4967F47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473"/>
          <a:stretch/>
        </p:blipFill>
        <p:spPr>
          <a:xfrm>
            <a:off x="3473585" y="5239658"/>
            <a:ext cx="756255" cy="35833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6A3AA946-537A-4A4D-B746-E9A28DF70D33}"/>
              </a:ext>
            </a:extLst>
          </p:cNvPr>
          <p:cNvSpPr txBox="1"/>
          <p:nvPr/>
        </p:nvSpPr>
        <p:spPr>
          <a:xfrm>
            <a:off x="3129076" y="5009104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D0F76BF-BD0E-47AC-800F-37DA7CC83F76}"/>
              </a:ext>
            </a:extLst>
          </p:cNvPr>
          <p:cNvCxnSpPr>
            <a:cxnSpLocks/>
          </p:cNvCxnSpPr>
          <p:nvPr/>
        </p:nvCxnSpPr>
        <p:spPr>
          <a:xfrm>
            <a:off x="5475490" y="5751169"/>
            <a:ext cx="123943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D0425C6-BC15-4DE7-99B6-4A82EA0BCBE0}"/>
              </a:ext>
            </a:extLst>
          </p:cNvPr>
          <p:cNvSpPr/>
          <p:nvPr/>
        </p:nvSpPr>
        <p:spPr>
          <a:xfrm>
            <a:off x="6723307" y="5122140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Labeling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5AF925DB-4B8B-4F60-BE39-4DB4709B80DC}"/>
              </a:ext>
            </a:extLst>
          </p:cNvPr>
          <p:cNvCxnSpPr/>
          <p:nvPr/>
        </p:nvCxnSpPr>
        <p:spPr>
          <a:xfrm>
            <a:off x="6139106" y="5457879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90E61F71-D4F7-4580-9105-E6DC2E476172}"/>
              </a:ext>
            </a:extLst>
          </p:cNvPr>
          <p:cNvSpPr txBox="1"/>
          <p:nvPr/>
        </p:nvSpPr>
        <p:spPr>
          <a:xfrm>
            <a:off x="5713310" y="5152621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CFE2F39-209A-4FE6-930E-72C37DE1D220}"/>
              </a:ext>
            </a:extLst>
          </p:cNvPr>
          <p:cNvCxnSpPr>
            <a:cxnSpLocks/>
          </p:cNvCxnSpPr>
          <p:nvPr/>
        </p:nvCxnSpPr>
        <p:spPr>
          <a:xfrm>
            <a:off x="8052572" y="5751169"/>
            <a:ext cx="1463473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4C22E6D6-2107-424E-B845-FCB82496BFD2}"/>
              </a:ext>
            </a:extLst>
          </p:cNvPr>
          <p:cNvSpPr txBox="1"/>
          <p:nvPr/>
        </p:nvSpPr>
        <p:spPr>
          <a:xfrm>
            <a:off x="8701694" y="5435507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Result Image</a:t>
            </a:r>
            <a:endParaRPr lang="zh-TW" altLang="en-US" sz="1200" dirty="0"/>
          </a:p>
        </p:txBody>
      </p: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Design Block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1134777" y="1685763"/>
            <a:ext cx="1329265" cy="1136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Param Setting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9A46E5F-0BEA-4E68-9562-951B1B54522E}"/>
              </a:ext>
            </a:extLst>
          </p:cNvPr>
          <p:cNvCxnSpPr>
            <a:cxnSpLocks/>
          </p:cNvCxnSpPr>
          <p:nvPr/>
        </p:nvCxnSpPr>
        <p:spPr>
          <a:xfrm>
            <a:off x="2464042" y="1982174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B527FD3-6F54-41D6-B332-9CFF73B6D1A3}"/>
              </a:ext>
            </a:extLst>
          </p:cNvPr>
          <p:cNvCxnSpPr>
            <a:cxnSpLocks/>
          </p:cNvCxnSpPr>
          <p:nvPr/>
        </p:nvCxnSpPr>
        <p:spPr>
          <a:xfrm>
            <a:off x="2464042" y="222934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B4CD218-6A6E-4DC0-A11B-9D233DEC10CB}"/>
              </a:ext>
            </a:extLst>
          </p:cNvPr>
          <p:cNvCxnSpPr>
            <a:cxnSpLocks/>
          </p:cNvCxnSpPr>
          <p:nvPr/>
        </p:nvCxnSpPr>
        <p:spPr>
          <a:xfrm>
            <a:off x="2466438" y="249585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84BDD69A-80E3-42A6-A4FE-3D349652A311}"/>
              </a:ext>
            </a:extLst>
          </p:cNvPr>
          <p:cNvCxnSpPr>
            <a:cxnSpLocks/>
          </p:cNvCxnSpPr>
          <p:nvPr/>
        </p:nvCxnSpPr>
        <p:spPr>
          <a:xfrm flipV="1">
            <a:off x="2461767" y="2729166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</p:cNvCxnSpPr>
          <p:nvPr/>
        </p:nvCxnSpPr>
        <p:spPr>
          <a:xfrm flipV="1">
            <a:off x="2469565" y="1755984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4A824D-E62B-4A06-8583-9FC920FFC33E}"/>
              </a:ext>
            </a:extLst>
          </p:cNvPr>
          <p:cNvSpPr txBox="1"/>
          <p:nvPr/>
        </p:nvSpPr>
        <p:spPr>
          <a:xfrm>
            <a:off x="2759978" y="6551802"/>
            <a:ext cx="2788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先做整張</a:t>
            </a:r>
            <a:r>
              <a:rPr lang="en-US" altLang="zh-TW" dirty="0"/>
              <a:t>LBP</a:t>
            </a:r>
            <a:r>
              <a:rPr lang="zh-TW" altLang="en-US" dirty="0"/>
              <a:t>再做</a:t>
            </a:r>
            <a:r>
              <a:rPr lang="en-US" altLang="zh-TW" dirty="0"/>
              <a:t>BFS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86049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148</Words>
  <Application>Microsoft Office PowerPoint</Application>
  <PresentationFormat>寬螢幕</PresentationFormat>
  <Paragraphs>49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Office Theme</vt:lpstr>
      <vt:lpstr>Image Segmentation of Concrete Roads</vt:lpstr>
      <vt:lpstr>Requirement</vt:lpstr>
      <vt:lpstr>Breakdown</vt:lpstr>
      <vt:lpstr>Design Block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of Concrete Roads</dc:title>
  <dc:creator>Kenny Gun</dc:creator>
  <cp:lastModifiedBy>user</cp:lastModifiedBy>
  <cp:revision>7</cp:revision>
  <dcterms:created xsi:type="dcterms:W3CDTF">2024-10-19T02:09:08Z</dcterms:created>
  <dcterms:modified xsi:type="dcterms:W3CDTF">2024-10-24T07:34:11Z</dcterms:modified>
</cp:coreProperties>
</file>