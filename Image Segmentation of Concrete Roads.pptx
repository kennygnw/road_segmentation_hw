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61" r:id="rId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4" y="2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F6447-78BE-47D3-B6AB-5E08765DE2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FA14A4-584F-456C-B76B-6F32E66F11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C012A2-16FF-4080-9AA0-0BC69F8B8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2024/10/23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EA3D66-6F87-41E3-9E18-416E5E448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9F40C7-008F-4CD3-9CE9-BB3A523F0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643647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F49CD-834E-4395-A8BF-0A8CD2D2E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7B9C5-6530-4F38-9301-68EBE12C1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EAB9A6-204A-4501-BD31-3ED4CE241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2024/10/23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5C1A95-4545-41D6-8F30-A862A55F9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8DE74B-0A55-4460-B6A0-466F90D22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254640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EF054-96D7-49AF-884B-4C179D01A3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8AA281-D0A0-496C-BC88-BC69CBA61E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2482BF-5933-44A7-9B66-D0ED4936F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2024/10/23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8EFC63-7B2C-410A-8F81-41CDD6E4A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15DAB-532A-4C07-8F8B-D007D9C8B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1776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CAD18-45EB-4D71-AC08-76EC40DBA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BFB1A-46DA-4DCB-A6D2-86A7361948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EA6E40-D3BB-4856-BD18-BE47AABFDB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CEC1BD-3D79-454E-B8FC-BF8A81285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2024/10/23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7EBD4A-361E-42AC-95EC-031B829EF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7BB12C-55EC-4C47-830F-EA4F63070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3735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A7D07-0825-4711-B86E-52AEFF1F5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3865F1-893E-4D48-937C-960636CC1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38DE1A-45C9-4731-A3AB-9E573AB233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B3962E-B14B-4728-B00E-C4121B66D8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2499ED-D6E1-4EFC-B187-4F7755E81A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348F0B-8640-4BAD-8955-852F8B2B6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2024/10/23</a:t>
            </a:fld>
            <a:endParaRPr lang="zh-TW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4768012-3C56-4A15-BE32-62AE5E1C3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9ECBA3-8486-46E8-9566-0EB463D52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091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055C6-3C7E-4528-AFE5-5ED6A7E3E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A43BD2-1B1A-4143-9B7C-97C4CC1BC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2024/10/23</a:t>
            </a:fld>
            <a:endParaRPr lang="zh-TW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56F52D-B00A-4B65-B83A-1289D1DF4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0EA9B5-E4A5-4846-A594-FFB6169D2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32669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8C4639-A7FF-4E7E-80DB-1E2FB1EA60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2024/10/23</a:t>
            </a:fld>
            <a:endParaRPr lang="zh-TW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7A5E33-034E-4A1F-B376-A565F4C48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F858FA-8857-4E94-ADB7-7F12AD03D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443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D1D96-87D3-4389-A782-9CEFA0A1C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EF88FF-456C-43D9-B840-0541CA277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5FEC6D-E7E3-4534-9971-4D6059C1F3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EE0128-DD26-49AE-8A34-C65C4EB12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2024/10/23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31FB6A-54D1-46BA-A761-A1AE20379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E2C47-508E-49BA-8D67-14110FAC1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11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B57F5-5A1F-45BF-A16A-83EAED4E4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F1F731-0C0B-4218-B10A-E677BEF2D6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A36957-6D68-4EDE-A917-D5E168CF9C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0189B0-73C7-4A9D-8C11-BFB3DF14A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2024/10/23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BF053B-B1EB-4BB1-B509-E8237755D9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5D9C2E-A1AF-495D-8AEE-499EB4EF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055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53582-412B-41FF-BF32-91231885C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B4E82F-B305-4689-A068-7857689A14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4F67EE-2C63-420E-B7E9-D2F393A98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2024/10/23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08E1BF-6C96-4086-B5C0-88E29596F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32D955-938A-4BAD-9FC5-A1303E4EA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3708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049A96-694B-4994-B436-4F14BBBCD2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CB741A-B2E5-4339-9B82-8376321D20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9F5E0-F8DB-4E51-9851-D5FEB224C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2024/10/23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0F8D6-81A6-42F3-9A43-050760F78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7A2AC-46E2-4D4A-9E87-6899E02C7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4520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BB576B-DAE7-4A8A-A5D0-585BB6316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E60CD3-395D-4AD3-A8E3-112894B066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941E24-7D07-4CAD-BED6-8F913A1920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D47A6F-3EBE-4C73-A7AD-6A61AF5187C9}" type="datetimeFigureOut">
              <a:rPr lang="zh-TW" altLang="en-US" smtClean="0"/>
              <a:t>2024/10/23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113418-8E44-4FEA-9356-2B0592617E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3BB192-01BC-4264-B9C0-7F21A7220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122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0DAF0-003E-437F-A70D-11462AF28C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Image Segmentation of Concrete Roads</a:t>
            </a:r>
            <a:endParaRPr lang="zh-TW" alt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DC5952-8224-4145-8B66-41925C8D427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39395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A325B-31E5-41DC-93DE-054EDED2B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515600" cy="1325563"/>
          </a:xfrm>
        </p:spPr>
        <p:txBody>
          <a:bodyPr/>
          <a:lstStyle/>
          <a:p>
            <a:r>
              <a:rPr lang="en-US" altLang="zh-TW" dirty="0"/>
              <a:t>Requirement</a:t>
            </a:r>
            <a:endParaRPr lang="zh-TW" alt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3F8999-EB39-433F-BAB5-22456FE474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9964271" cy="4351338"/>
          </a:xfrm>
        </p:spPr>
        <p:txBody>
          <a:bodyPr/>
          <a:lstStyle/>
          <a:p>
            <a:pPr lvl="1">
              <a:lnSpc>
                <a:spcPct val="200000"/>
              </a:lnSpc>
            </a:pPr>
            <a:r>
              <a:rPr lang="zh-TW" altLang="en-US" dirty="0"/>
              <a:t>馬路分割</a:t>
            </a:r>
            <a:endParaRPr lang="en-US" altLang="zh-TW" dirty="0"/>
          </a:p>
          <a:p>
            <a:pPr lvl="1">
              <a:lnSpc>
                <a:spcPct val="200000"/>
              </a:lnSpc>
            </a:pPr>
            <a:r>
              <a:rPr lang="zh-TW" altLang="en-US" dirty="0"/>
              <a:t>使用</a:t>
            </a:r>
            <a:r>
              <a:rPr lang="en-US" altLang="zh-TW" dirty="0"/>
              <a:t>LBP</a:t>
            </a:r>
            <a:r>
              <a:rPr lang="zh-TW" altLang="en-US" dirty="0"/>
              <a:t>和</a:t>
            </a:r>
            <a:r>
              <a:rPr lang="en-US" altLang="zh-TW" dirty="0"/>
              <a:t>BFS</a:t>
            </a:r>
            <a:r>
              <a:rPr lang="zh-TW" altLang="en-US" dirty="0"/>
              <a:t>或</a:t>
            </a:r>
            <a:r>
              <a:rPr lang="en-US" altLang="zh-TW" dirty="0"/>
              <a:t>DFS</a:t>
            </a:r>
          </a:p>
        </p:txBody>
      </p:sp>
    </p:spTree>
    <p:extLst>
      <p:ext uri="{BB962C8B-B14F-4D97-AF65-F5344CB8AC3E}">
        <p14:creationId xmlns:p14="http://schemas.microsoft.com/office/powerpoint/2010/main" val="672167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7A478E1C-5D24-43B3-91F2-36D6F0998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576" y="427878"/>
            <a:ext cx="10515600" cy="1325563"/>
          </a:xfrm>
        </p:spPr>
        <p:txBody>
          <a:bodyPr/>
          <a:lstStyle/>
          <a:p>
            <a:r>
              <a:rPr lang="en-US" altLang="zh-TW" dirty="0"/>
              <a:t>Breakdown</a:t>
            </a:r>
            <a:endParaRPr lang="zh-TW" alt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99D72EA-E656-406B-A49B-C116DB539AC4}"/>
              </a:ext>
            </a:extLst>
          </p:cNvPr>
          <p:cNvSpPr/>
          <p:nvPr/>
        </p:nvSpPr>
        <p:spPr>
          <a:xfrm>
            <a:off x="174063" y="4878174"/>
            <a:ext cx="1985188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抓邊 </a:t>
            </a:r>
            <a:r>
              <a:rPr lang="en-US" altLang="zh-TW" dirty="0"/>
              <a:t>(Sobel)</a:t>
            </a:r>
            <a:endParaRPr lang="zh-TW" alt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F222FEF-8B05-4AB8-A4F4-D3A596A76857}"/>
              </a:ext>
            </a:extLst>
          </p:cNvPr>
          <p:cNvSpPr/>
          <p:nvPr/>
        </p:nvSpPr>
        <p:spPr>
          <a:xfrm>
            <a:off x="2399427" y="3720848"/>
            <a:ext cx="2243666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LBP</a:t>
            </a:r>
            <a:r>
              <a:rPr lang="zh-TW" altLang="en-US" dirty="0"/>
              <a:t>計算</a:t>
            </a:r>
            <a:r>
              <a:rPr lang="en-US" altLang="zh-TW" dirty="0"/>
              <a:t>Sobel</a:t>
            </a:r>
            <a:r>
              <a:rPr lang="zh-TW" altLang="en-US" dirty="0"/>
              <a:t>結果的紋路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5F8F078-9CA8-4AC6-BEAF-8EAA6BF8ACE9}"/>
              </a:ext>
            </a:extLst>
          </p:cNvPr>
          <p:cNvSpPr/>
          <p:nvPr/>
        </p:nvSpPr>
        <p:spPr>
          <a:xfrm>
            <a:off x="10713099" y="3727695"/>
            <a:ext cx="1165136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上色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194A11E-4E6C-4E82-8900-DA2B7E229212}"/>
              </a:ext>
            </a:extLst>
          </p:cNvPr>
          <p:cNvSpPr/>
          <p:nvPr/>
        </p:nvSpPr>
        <p:spPr>
          <a:xfrm>
            <a:off x="7720002" y="3719911"/>
            <a:ext cx="2243666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馬路搜尋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FDF0E32-EA4F-4E27-9904-33BCFC02D9A0}"/>
              </a:ext>
            </a:extLst>
          </p:cNvPr>
          <p:cNvSpPr/>
          <p:nvPr/>
        </p:nvSpPr>
        <p:spPr>
          <a:xfrm>
            <a:off x="8553724" y="4916641"/>
            <a:ext cx="2243666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計算</a:t>
            </a:r>
            <a:r>
              <a:rPr lang="en-US" altLang="zh-TW" dirty="0"/>
              <a:t>hist</a:t>
            </a:r>
            <a:r>
              <a:rPr lang="zh-TW" altLang="en-US" dirty="0"/>
              <a:t> </a:t>
            </a:r>
            <a:r>
              <a:rPr lang="en-US" altLang="zh-TW" dirty="0"/>
              <a:t>top N </a:t>
            </a:r>
            <a:r>
              <a:rPr lang="zh-TW" altLang="en-US" dirty="0"/>
              <a:t>距離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51E0469-AF54-4417-AF90-5E89292F642C}"/>
              </a:ext>
            </a:extLst>
          </p:cNvPr>
          <p:cNvSpPr/>
          <p:nvPr/>
        </p:nvSpPr>
        <p:spPr>
          <a:xfrm>
            <a:off x="5037800" y="5703732"/>
            <a:ext cx="2243662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取</a:t>
            </a:r>
            <a:r>
              <a:rPr lang="en-US" altLang="zh-TW" dirty="0"/>
              <a:t>hist</a:t>
            </a:r>
            <a:r>
              <a:rPr lang="zh-TW" altLang="en-US" dirty="0"/>
              <a:t>前</a:t>
            </a:r>
            <a:r>
              <a:rPr lang="en-US" altLang="zh-TW" dirty="0"/>
              <a:t>N</a:t>
            </a:r>
            <a:r>
              <a:rPr lang="zh-TW" altLang="en-US" dirty="0"/>
              <a:t>元素最高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847CBB-A3A6-4DA6-B58F-7D4CA395B3BC}"/>
              </a:ext>
            </a:extLst>
          </p:cNvPr>
          <p:cNvSpPr/>
          <p:nvPr/>
        </p:nvSpPr>
        <p:spPr>
          <a:xfrm>
            <a:off x="4624543" y="1528112"/>
            <a:ext cx="2243666" cy="85238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馬路分割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5A1CAAE4-868D-4833-AC78-3AFFEA88A408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rot="5400000">
            <a:off x="2786343" y="760815"/>
            <a:ext cx="1340348" cy="4579719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B6290EDF-5EF2-47E7-9FFE-41B69A333D0F}"/>
              </a:ext>
            </a:extLst>
          </p:cNvPr>
          <p:cNvSpPr/>
          <p:nvPr/>
        </p:nvSpPr>
        <p:spPr>
          <a:xfrm>
            <a:off x="174063" y="3720848"/>
            <a:ext cx="1985188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前處理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AD54F72-2A70-469C-9336-0762C55E0BF5}"/>
              </a:ext>
            </a:extLst>
          </p:cNvPr>
          <p:cNvCxnSpPr>
            <a:stCxn id="19" idx="2"/>
            <a:endCxn id="24" idx="0"/>
          </p:cNvCxnSpPr>
          <p:nvPr/>
        </p:nvCxnSpPr>
        <p:spPr>
          <a:xfrm>
            <a:off x="1166657" y="4338914"/>
            <a:ext cx="0" cy="53926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681376B8-B122-43AE-BDFC-98CFA5F212A7}"/>
              </a:ext>
            </a:extLst>
          </p:cNvPr>
          <p:cNvCxnSpPr>
            <a:cxnSpLocks/>
            <a:stCxn id="10" idx="2"/>
            <a:endCxn id="25" idx="0"/>
          </p:cNvCxnSpPr>
          <p:nvPr/>
        </p:nvCxnSpPr>
        <p:spPr>
          <a:xfrm rot="5400000">
            <a:off x="3963644" y="1938116"/>
            <a:ext cx="1340348" cy="2225116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FE763125-3B1E-4DD7-A1C0-F9B063EC5445}"/>
              </a:ext>
            </a:extLst>
          </p:cNvPr>
          <p:cNvSpPr/>
          <p:nvPr/>
        </p:nvSpPr>
        <p:spPr>
          <a:xfrm>
            <a:off x="5037800" y="3719911"/>
            <a:ext cx="2243666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紋路統計 </a:t>
            </a:r>
            <a:r>
              <a:rPr lang="en-US" altLang="zh-TW" dirty="0"/>
              <a:t>(histogram)</a:t>
            </a:r>
            <a:endParaRPr lang="zh-TW" altLang="en-US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1BE21781-5841-41A9-B1C4-5E6C1CFB308B}"/>
              </a:ext>
            </a:extLst>
          </p:cNvPr>
          <p:cNvCxnSpPr>
            <a:cxnSpLocks/>
            <a:stCxn id="10" idx="2"/>
            <a:endCxn id="41" idx="0"/>
          </p:cNvCxnSpPr>
          <p:nvPr/>
        </p:nvCxnSpPr>
        <p:spPr>
          <a:xfrm rot="16200000" flipH="1">
            <a:off x="5283299" y="2843576"/>
            <a:ext cx="1339411" cy="413257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1FE4C6C4-D62D-4CA6-8CEC-5E33587678BB}"/>
              </a:ext>
            </a:extLst>
          </p:cNvPr>
          <p:cNvCxnSpPr>
            <a:cxnSpLocks/>
            <a:stCxn id="10" idx="2"/>
            <a:endCxn id="28" idx="0"/>
          </p:cNvCxnSpPr>
          <p:nvPr/>
        </p:nvCxnSpPr>
        <p:spPr>
          <a:xfrm rot="16200000" flipH="1">
            <a:off x="6624400" y="1502475"/>
            <a:ext cx="1339411" cy="3095459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757F239F-F800-48E5-A32C-6D3A9192AB93}"/>
              </a:ext>
            </a:extLst>
          </p:cNvPr>
          <p:cNvSpPr/>
          <p:nvPr/>
        </p:nvSpPr>
        <p:spPr>
          <a:xfrm>
            <a:off x="7676171" y="4916642"/>
            <a:ext cx="670120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BFS</a:t>
            </a:r>
            <a:endParaRPr lang="zh-TW" altLang="en-US" dirty="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E4B5AEE5-39BE-4858-867D-C2E45DD5D64C}"/>
              </a:ext>
            </a:extLst>
          </p:cNvPr>
          <p:cNvCxnSpPr>
            <a:cxnSpLocks/>
            <a:stCxn id="28" idx="2"/>
            <a:endCxn id="55" idx="0"/>
          </p:cNvCxnSpPr>
          <p:nvPr/>
        </p:nvCxnSpPr>
        <p:spPr>
          <a:xfrm rot="5400000">
            <a:off x="8137201" y="4212007"/>
            <a:ext cx="578665" cy="830604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B0C52F5F-F384-4146-BA11-DE76D3CA24F5}"/>
              </a:ext>
            </a:extLst>
          </p:cNvPr>
          <p:cNvCxnSpPr>
            <a:cxnSpLocks/>
            <a:stCxn id="41" idx="2"/>
            <a:endCxn id="81" idx="0"/>
          </p:cNvCxnSpPr>
          <p:nvPr/>
        </p:nvCxnSpPr>
        <p:spPr>
          <a:xfrm flipH="1">
            <a:off x="6159631" y="4337977"/>
            <a:ext cx="2" cy="37384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D8D244EF-4256-4681-AAFA-7665C236390C}"/>
              </a:ext>
            </a:extLst>
          </p:cNvPr>
          <p:cNvSpPr/>
          <p:nvPr/>
        </p:nvSpPr>
        <p:spPr>
          <a:xfrm>
            <a:off x="5037800" y="4711822"/>
            <a:ext cx="2243662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Sort</a:t>
            </a:r>
            <a:r>
              <a:rPr lang="zh-TW" altLang="en-US" dirty="0"/>
              <a:t> </a:t>
            </a:r>
            <a:r>
              <a:rPr lang="en-US" altLang="zh-TW" dirty="0"/>
              <a:t>hist</a:t>
            </a:r>
            <a:r>
              <a:rPr lang="zh-TW" altLang="en-US" dirty="0"/>
              <a:t> 的元素最高</a:t>
            </a: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24046D0B-D33A-4CD8-8907-001123409DF1}"/>
              </a:ext>
            </a:extLst>
          </p:cNvPr>
          <p:cNvCxnSpPr>
            <a:cxnSpLocks/>
            <a:stCxn id="81" idx="2"/>
            <a:endCxn id="31" idx="0"/>
          </p:cNvCxnSpPr>
          <p:nvPr/>
        </p:nvCxnSpPr>
        <p:spPr>
          <a:xfrm>
            <a:off x="6159631" y="5329888"/>
            <a:ext cx="0" cy="37384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821458F-6FCA-47C9-985D-F62236245139}"/>
              </a:ext>
            </a:extLst>
          </p:cNvPr>
          <p:cNvCxnSpPr>
            <a:cxnSpLocks/>
          </p:cNvCxnSpPr>
          <p:nvPr/>
        </p:nvCxnSpPr>
        <p:spPr>
          <a:xfrm rot="5400000">
            <a:off x="8137201" y="4212008"/>
            <a:ext cx="578665" cy="830604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4461CAC6-61CB-4335-AE6D-5D1904D3DF18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rot="16200000" flipH="1">
            <a:off x="8969364" y="4210448"/>
            <a:ext cx="578664" cy="833722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88227769-DFE2-417F-9B7F-FE946A3406B1}"/>
              </a:ext>
            </a:extLst>
          </p:cNvPr>
          <p:cNvSpPr/>
          <p:nvPr/>
        </p:nvSpPr>
        <p:spPr>
          <a:xfrm>
            <a:off x="8553724" y="5703732"/>
            <a:ext cx="2243666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距離是否超過</a:t>
            </a:r>
            <a:r>
              <a:rPr lang="en-US" altLang="zh-TW" dirty="0"/>
              <a:t>threshold</a:t>
            </a:r>
            <a:endParaRPr lang="zh-TW" altLang="en-US" dirty="0"/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F0E57192-148A-4197-8A05-AAB437A231DA}"/>
              </a:ext>
            </a:extLst>
          </p:cNvPr>
          <p:cNvCxnSpPr>
            <a:cxnSpLocks/>
            <a:stCxn id="29" idx="2"/>
            <a:endCxn id="115" idx="0"/>
          </p:cNvCxnSpPr>
          <p:nvPr/>
        </p:nvCxnSpPr>
        <p:spPr>
          <a:xfrm>
            <a:off x="9675557" y="5534707"/>
            <a:ext cx="0" cy="16902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5FF575A9-C470-4BCD-850A-63BA04E32426}"/>
              </a:ext>
            </a:extLst>
          </p:cNvPr>
          <p:cNvCxnSpPr>
            <a:cxnSpLocks/>
            <a:stCxn id="10" idx="2"/>
            <a:endCxn id="27" idx="0"/>
          </p:cNvCxnSpPr>
          <p:nvPr/>
        </p:nvCxnSpPr>
        <p:spPr>
          <a:xfrm rot="16200000" flipH="1">
            <a:off x="7847424" y="279451"/>
            <a:ext cx="1347195" cy="5549291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5280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Box 122">
            <a:extLst>
              <a:ext uri="{FF2B5EF4-FFF2-40B4-BE49-F238E27FC236}">
                <a16:creationId xmlns:a16="http://schemas.microsoft.com/office/drawing/2014/main" id="{B36EACDE-308A-4B31-A072-34C025963FCD}"/>
              </a:ext>
            </a:extLst>
          </p:cNvPr>
          <p:cNvSpPr txBox="1"/>
          <p:nvPr/>
        </p:nvSpPr>
        <p:spPr>
          <a:xfrm>
            <a:off x="2459961" y="1726234"/>
            <a:ext cx="22695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Sobel Kernel Size</a:t>
            </a:r>
            <a:endParaRPr lang="zh-TW" altLang="en-US" sz="1200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28CA57A1-AEF7-4B3B-AE19-752AEBF45152}"/>
              </a:ext>
            </a:extLst>
          </p:cNvPr>
          <p:cNvSpPr txBox="1"/>
          <p:nvPr/>
        </p:nvSpPr>
        <p:spPr>
          <a:xfrm>
            <a:off x="2454438" y="1966711"/>
            <a:ext cx="827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BFS Stride</a:t>
            </a:r>
            <a:endParaRPr lang="zh-TW" altLang="en-US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6F336EC-A77E-4B43-B760-845EF2348977}"/>
              </a:ext>
            </a:extLst>
          </p:cNvPr>
          <p:cNvSpPr txBox="1"/>
          <p:nvPr/>
        </p:nvSpPr>
        <p:spPr>
          <a:xfrm>
            <a:off x="2454438" y="2229342"/>
            <a:ext cx="1337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Kernel</a:t>
            </a:r>
            <a:r>
              <a:rPr lang="zh-TW" altLang="en-US" sz="1200" dirty="0"/>
              <a:t> </a:t>
            </a:r>
            <a:r>
              <a:rPr lang="en-US" altLang="zh-TW" sz="1200" dirty="0"/>
              <a:t>Size N</a:t>
            </a:r>
            <a:endParaRPr lang="zh-TW" altLang="en-US" sz="1200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204BBAC0-3021-4DE3-BC4B-D59B1D51BC5C}"/>
              </a:ext>
            </a:extLst>
          </p:cNvPr>
          <p:cNvSpPr txBox="1"/>
          <p:nvPr/>
        </p:nvSpPr>
        <p:spPr>
          <a:xfrm>
            <a:off x="2454438" y="2468963"/>
            <a:ext cx="1097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Threshold</a:t>
            </a:r>
            <a:endParaRPr lang="zh-TW" altLang="en-US" sz="1200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CCAE6C29-BE2F-4633-AD04-18E30E8A273F}"/>
              </a:ext>
            </a:extLst>
          </p:cNvPr>
          <p:cNvSpPr txBox="1"/>
          <p:nvPr/>
        </p:nvSpPr>
        <p:spPr>
          <a:xfrm>
            <a:off x="2454328" y="1514523"/>
            <a:ext cx="22695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S</a:t>
            </a:r>
            <a:endParaRPr lang="zh-TW" altLang="en-US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553043-276B-4F30-AC63-A3C4D6F4EEC6}"/>
              </a:ext>
            </a:extLst>
          </p:cNvPr>
          <p:cNvSpPr/>
          <p:nvPr/>
        </p:nvSpPr>
        <p:spPr>
          <a:xfrm>
            <a:off x="980995" y="3237982"/>
            <a:ext cx="1329265" cy="89637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Sobel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C53301-D70B-48E8-834C-CFC07477ACB7}"/>
              </a:ext>
            </a:extLst>
          </p:cNvPr>
          <p:cNvSpPr/>
          <p:nvPr/>
        </p:nvSpPr>
        <p:spPr>
          <a:xfrm>
            <a:off x="3139996" y="3237985"/>
            <a:ext cx="1329265" cy="89637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LBP Algorithm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2A6E28-F555-4589-A05F-6B7EEBE7A436}"/>
              </a:ext>
            </a:extLst>
          </p:cNvPr>
          <p:cNvSpPr/>
          <p:nvPr/>
        </p:nvSpPr>
        <p:spPr>
          <a:xfrm>
            <a:off x="7678833" y="3198711"/>
            <a:ext cx="1329265" cy="896374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Histogram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382C9C-8A08-43D9-BB2D-9F48C14647D2}"/>
              </a:ext>
            </a:extLst>
          </p:cNvPr>
          <p:cNvSpPr/>
          <p:nvPr/>
        </p:nvSpPr>
        <p:spPr>
          <a:xfrm>
            <a:off x="10050096" y="3198708"/>
            <a:ext cx="1329265" cy="896374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Sort &amp; Get S Mode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3A9EA6-FB28-4D69-9E87-D5F4FC2355AD}"/>
              </a:ext>
            </a:extLst>
          </p:cNvPr>
          <p:cNvSpPr/>
          <p:nvPr/>
        </p:nvSpPr>
        <p:spPr>
          <a:xfrm>
            <a:off x="951075" y="5113410"/>
            <a:ext cx="1329265" cy="896373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1-norm Distance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1607EDC-9401-4CAC-BA2D-87C6790E9880}"/>
              </a:ext>
            </a:extLst>
          </p:cNvPr>
          <p:cNvCxnSpPr/>
          <p:nvPr/>
        </p:nvCxnSpPr>
        <p:spPr>
          <a:xfrm>
            <a:off x="396794" y="3906303"/>
            <a:ext cx="584201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BA2B030E-9FDB-4819-9689-A080918F97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578" y="3237984"/>
            <a:ext cx="705827" cy="280440"/>
          </a:xfrm>
          <a:prstGeom prst="rect">
            <a:avLst/>
          </a:prstGeom>
        </p:spPr>
      </p:pic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D27FA63-F8F3-482A-B653-642080FE423B}"/>
              </a:ext>
            </a:extLst>
          </p:cNvPr>
          <p:cNvCxnSpPr>
            <a:cxnSpLocks/>
          </p:cNvCxnSpPr>
          <p:nvPr/>
        </p:nvCxnSpPr>
        <p:spPr>
          <a:xfrm>
            <a:off x="2310260" y="3906303"/>
            <a:ext cx="829736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D85C1262-2B06-4484-B773-8E7F91DC6B26}"/>
              </a:ext>
            </a:extLst>
          </p:cNvPr>
          <p:cNvSpPr txBox="1"/>
          <p:nvPr/>
        </p:nvSpPr>
        <p:spPr>
          <a:xfrm>
            <a:off x="0" y="2992044"/>
            <a:ext cx="22695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Sobel Kernel Size</a:t>
            </a:r>
            <a:endParaRPr lang="zh-TW" altLang="en-US" sz="12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C2BF97E-D781-4E87-BDB4-A89F7A66F029}"/>
              </a:ext>
            </a:extLst>
          </p:cNvPr>
          <p:cNvSpPr txBox="1"/>
          <p:nvPr/>
        </p:nvSpPr>
        <p:spPr>
          <a:xfrm>
            <a:off x="30609" y="3616920"/>
            <a:ext cx="10516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Input Image</a:t>
            </a:r>
            <a:endParaRPr lang="zh-TW" altLang="en-US" sz="12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592105E-F229-4296-A194-5FEB917B022A}"/>
              </a:ext>
            </a:extLst>
          </p:cNvPr>
          <p:cNvSpPr txBox="1"/>
          <p:nvPr/>
        </p:nvSpPr>
        <p:spPr>
          <a:xfrm>
            <a:off x="2268255" y="3622490"/>
            <a:ext cx="10516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Sobel Image</a:t>
            </a:r>
            <a:endParaRPr lang="zh-TW" altLang="en-US" sz="1200" dirty="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EDA9F99-B45B-41D7-9A7A-2A76AD46BBC6}"/>
              </a:ext>
            </a:extLst>
          </p:cNvPr>
          <p:cNvCxnSpPr>
            <a:cxnSpLocks/>
          </p:cNvCxnSpPr>
          <p:nvPr/>
        </p:nvCxnSpPr>
        <p:spPr>
          <a:xfrm>
            <a:off x="4469261" y="3893919"/>
            <a:ext cx="984636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151ED0C-8E49-4CFA-9531-A2A841F4A31A}"/>
              </a:ext>
            </a:extLst>
          </p:cNvPr>
          <p:cNvSpPr txBox="1"/>
          <p:nvPr/>
        </p:nvSpPr>
        <p:spPr>
          <a:xfrm>
            <a:off x="4435149" y="3616919"/>
            <a:ext cx="10516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LBP Array</a:t>
            </a:r>
            <a:endParaRPr lang="zh-TW" altLang="en-US" sz="1200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33C8EFA-17FD-4664-A97D-327B19B4BC1C}"/>
              </a:ext>
            </a:extLst>
          </p:cNvPr>
          <p:cNvCxnSpPr>
            <a:cxnSpLocks/>
          </p:cNvCxnSpPr>
          <p:nvPr/>
        </p:nvCxnSpPr>
        <p:spPr>
          <a:xfrm>
            <a:off x="9008098" y="3880155"/>
            <a:ext cx="1041998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7D6088B-2B58-4851-8C4D-0761F53C9D40}"/>
              </a:ext>
            </a:extLst>
          </p:cNvPr>
          <p:cNvSpPr txBox="1"/>
          <p:nvPr/>
        </p:nvSpPr>
        <p:spPr>
          <a:xfrm>
            <a:off x="9003268" y="3230844"/>
            <a:ext cx="1051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LBP Histograms [256]</a:t>
            </a:r>
            <a:endParaRPr lang="zh-TW" altLang="en-US" sz="12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84E0028-B38D-4B69-8B88-020DE4E2D4AA}"/>
              </a:ext>
            </a:extLst>
          </p:cNvPr>
          <p:cNvSpPr txBox="1"/>
          <p:nvPr/>
        </p:nvSpPr>
        <p:spPr>
          <a:xfrm>
            <a:off x="5548356" y="5768211"/>
            <a:ext cx="1337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Kernel Location</a:t>
            </a:r>
            <a:endParaRPr lang="zh-TW" altLang="en-US" sz="120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2D49ADD-F224-4852-BF94-D8D4C6D90463}"/>
              </a:ext>
            </a:extLst>
          </p:cNvPr>
          <p:cNvSpPr/>
          <p:nvPr/>
        </p:nvSpPr>
        <p:spPr>
          <a:xfrm>
            <a:off x="5435703" y="3198707"/>
            <a:ext cx="1329265" cy="89637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BFS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94A002C0-6EAA-45DE-9C35-041FBC062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006" y="3014541"/>
            <a:ext cx="756255" cy="514187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5593095-55CC-47C3-9B76-11A8FB97F450}"/>
              </a:ext>
            </a:extLst>
          </p:cNvPr>
          <p:cNvSpPr txBox="1"/>
          <p:nvPr/>
        </p:nvSpPr>
        <p:spPr>
          <a:xfrm>
            <a:off x="4618438" y="2752322"/>
            <a:ext cx="827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BFS Stride</a:t>
            </a:r>
            <a:endParaRPr lang="zh-TW" altLang="en-US" sz="1200" dirty="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0F228E88-B8D6-414A-9401-82A445806D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4977" y="3153953"/>
            <a:ext cx="530397" cy="524301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0E07E764-0263-41E8-B994-0B36A4B2E131}"/>
              </a:ext>
            </a:extLst>
          </p:cNvPr>
          <p:cNvSpPr txBox="1"/>
          <p:nvPr/>
        </p:nvSpPr>
        <p:spPr>
          <a:xfrm>
            <a:off x="4842442" y="2921796"/>
            <a:ext cx="1337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Kernel</a:t>
            </a:r>
            <a:r>
              <a:rPr lang="zh-TW" altLang="en-US" sz="1200" dirty="0"/>
              <a:t> </a:t>
            </a:r>
            <a:r>
              <a:rPr lang="en-US" altLang="zh-TW" sz="1200" dirty="0"/>
              <a:t>Size N</a:t>
            </a:r>
            <a:endParaRPr lang="zh-TW" altLang="en-US" sz="1200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DB5E1072-8D26-4F98-A71F-2577C6CAB862}"/>
              </a:ext>
            </a:extLst>
          </p:cNvPr>
          <p:cNvCxnSpPr>
            <a:cxnSpLocks/>
          </p:cNvCxnSpPr>
          <p:nvPr/>
        </p:nvCxnSpPr>
        <p:spPr>
          <a:xfrm rot="10800000" flipV="1">
            <a:off x="951076" y="4290728"/>
            <a:ext cx="10901772" cy="1051781"/>
          </a:xfrm>
          <a:prstGeom prst="bentConnector3">
            <a:avLst>
              <a:gd name="adj1" fmla="val 103588"/>
            </a:avLst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1EEEC336-CEE7-4BF8-9956-06C42C61CC91}"/>
              </a:ext>
            </a:extLst>
          </p:cNvPr>
          <p:cNvCxnSpPr>
            <a:cxnSpLocks/>
          </p:cNvCxnSpPr>
          <p:nvPr/>
        </p:nvCxnSpPr>
        <p:spPr>
          <a:xfrm>
            <a:off x="6764968" y="3880469"/>
            <a:ext cx="913865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BDC88130-8D06-4CBA-A3E3-F31F66EE5ACF}"/>
              </a:ext>
            </a:extLst>
          </p:cNvPr>
          <p:cNvSpPr txBox="1"/>
          <p:nvPr/>
        </p:nvSpPr>
        <p:spPr>
          <a:xfrm>
            <a:off x="6696666" y="3601905"/>
            <a:ext cx="1337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N x N matrices</a:t>
            </a:r>
            <a:endParaRPr lang="zh-TW" altLang="en-US" sz="1200" dirty="0"/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E6169CE9-8FAE-46AC-80BC-814ADB733D3C}"/>
              </a:ext>
            </a:extLst>
          </p:cNvPr>
          <p:cNvCxnSpPr>
            <a:cxnSpLocks/>
          </p:cNvCxnSpPr>
          <p:nvPr/>
        </p:nvCxnSpPr>
        <p:spPr>
          <a:xfrm>
            <a:off x="11379361" y="3416103"/>
            <a:ext cx="473487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7129F807-58F5-41E5-9DE5-01A62828B21B}"/>
              </a:ext>
            </a:extLst>
          </p:cNvPr>
          <p:cNvCxnSpPr>
            <a:cxnSpLocks/>
          </p:cNvCxnSpPr>
          <p:nvPr/>
        </p:nvCxnSpPr>
        <p:spPr>
          <a:xfrm flipV="1">
            <a:off x="11852848" y="3416103"/>
            <a:ext cx="0" cy="874624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DE777B6-8988-4351-B3ED-7E23161769D3}"/>
              </a:ext>
            </a:extLst>
          </p:cNvPr>
          <p:cNvCxnSpPr>
            <a:cxnSpLocks/>
          </p:cNvCxnSpPr>
          <p:nvPr/>
        </p:nvCxnSpPr>
        <p:spPr>
          <a:xfrm>
            <a:off x="11379361" y="3590751"/>
            <a:ext cx="675837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DADF2483-3590-48F9-B54E-18849A7D2DE8}"/>
              </a:ext>
            </a:extLst>
          </p:cNvPr>
          <p:cNvCxnSpPr>
            <a:cxnSpLocks/>
          </p:cNvCxnSpPr>
          <p:nvPr/>
        </p:nvCxnSpPr>
        <p:spPr>
          <a:xfrm flipV="1">
            <a:off x="12055198" y="3590751"/>
            <a:ext cx="0" cy="1131205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8FC66EB-DF4D-4AFF-9DEA-768E2B368AE7}"/>
              </a:ext>
            </a:extLst>
          </p:cNvPr>
          <p:cNvCxnSpPr>
            <a:cxnSpLocks/>
          </p:cNvCxnSpPr>
          <p:nvPr/>
        </p:nvCxnSpPr>
        <p:spPr>
          <a:xfrm rot="10800000" flipV="1">
            <a:off x="942698" y="4721957"/>
            <a:ext cx="11112501" cy="1027445"/>
          </a:xfrm>
          <a:prstGeom prst="bentConnector3">
            <a:avLst>
              <a:gd name="adj1" fmla="val 105337"/>
            </a:avLst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C8B655CD-D3C2-4887-9F42-05632D544D9F}"/>
              </a:ext>
            </a:extLst>
          </p:cNvPr>
          <p:cNvSpPr txBox="1"/>
          <p:nvPr/>
        </p:nvSpPr>
        <p:spPr>
          <a:xfrm>
            <a:off x="2310259" y="4256168"/>
            <a:ext cx="2215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Current Top 3 Mode [S,2]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D5EBF99-FB24-47E2-83DA-C108FA042BA8}"/>
              </a:ext>
            </a:extLst>
          </p:cNvPr>
          <p:cNvSpPr txBox="1"/>
          <p:nvPr/>
        </p:nvSpPr>
        <p:spPr>
          <a:xfrm>
            <a:off x="2310260" y="4695835"/>
            <a:ext cx="2215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Previous Top 3 Mode [S,2]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ADF2299-0EA0-48BB-8860-B16BECABAE80}"/>
              </a:ext>
            </a:extLst>
          </p:cNvPr>
          <p:cNvSpPr/>
          <p:nvPr/>
        </p:nvSpPr>
        <p:spPr>
          <a:xfrm>
            <a:off x="4146225" y="5113409"/>
            <a:ext cx="1329265" cy="896373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Compare Distance Difference</a:t>
            </a:r>
          </a:p>
        </p:txBody>
      </p:sp>
      <p:pic>
        <p:nvPicPr>
          <p:cNvPr id="97" name="Picture 96">
            <a:extLst>
              <a:ext uri="{FF2B5EF4-FFF2-40B4-BE49-F238E27FC236}">
                <a16:creationId xmlns:a16="http://schemas.microsoft.com/office/drawing/2014/main" id="{56E8D564-F528-4E1B-9117-7EEAB9C0F8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8933" y="2877156"/>
            <a:ext cx="530397" cy="524301"/>
          </a:xfrm>
          <a:prstGeom prst="rect">
            <a:avLst/>
          </a:prstGeom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4AFFD503-DFBE-44A9-99B8-8276EFDF98E6}"/>
              </a:ext>
            </a:extLst>
          </p:cNvPr>
          <p:cNvSpPr txBox="1"/>
          <p:nvPr/>
        </p:nvSpPr>
        <p:spPr>
          <a:xfrm>
            <a:off x="9430295" y="2638296"/>
            <a:ext cx="827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S</a:t>
            </a:r>
            <a:endParaRPr lang="zh-TW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0BFBFCC-0DA9-4C3E-94F5-4C1F233DD938}"/>
                  </a:ext>
                </a:extLst>
              </p:cNvPr>
              <p:cNvSpPr txBox="1"/>
              <p:nvPr/>
            </p:nvSpPr>
            <p:spPr>
              <a:xfrm>
                <a:off x="2180175" y="5751169"/>
                <a:ext cx="1919642" cy="5346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subSup"/>
                          <m:grow m:val="on"/>
                          <m:ctrlPr>
                            <a:rPr lang="zh-TW" altLang="en-US" sz="1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TW" altLang="en-US" sz="1400" i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zh-TW" altLang="en-US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zh-TW" alt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TW" altLang="en-US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4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zh-TW" alt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zh-TW" altLang="en-US" sz="1400" i="0">
                                  <a:latin typeface="Cambria Math" panose="02040503050406030204" pitchFamily="18" charset="0"/>
                                </a:rPr>
                                <m:t>′−</m:t>
                              </m:r>
                              <m:sSub>
                                <m:sSubPr>
                                  <m:ctrlPr>
                                    <a:rPr lang="zh-TW" altLang="en-US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4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zh-TW" alt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0BFBFCC-0DA9-4C3E-94F5-4C1F233DD9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0175" y="5751169"/>
                <a:ext cx="1919642" cy="534698"/>
              </a:xfrm>
              <a:prstGeom prst="rect">
                <a:avLst/>
              </a:prstGeom>
              <a:blipFill>
                <a:blip r:embed="rId5"/>
                <a:stretch>
                  <a:fillRect l="-14603" t="-132955" r="-1270" b="-2056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C66AA057-3ACF-4188-ACA3-DC76A7B35AF9}"/>
              </a:ext>
            </a:extLst>
          </p:cNvPr>
          <p:cNvCxnSpPr>
            <a:cxnSpLocks/>
          </p:cNvCxnSpPr>
          <p:nvPr/>
        </p:nvCxnSpPr>
        <p:spPr>
          <a:xfrm>
            <a:off x="2280340" y="5744300"/>
            <a:ext cx="1884771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5" name="Picture 104">
            <a:extLst>
              <a:ext uri="{FF2B5EF4-FFF2-40B4-BE49-F238E27FC236}">
                <a16:creationId xmlns:a16="http://schemas.microsoft.com/office/drawing/2014/main" id="{C6809B43-FFF5-4EE9-BE97-D47B4967F47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8473"/>
          <a:stretch/>
        </p:blipFill>
        <p:spPr>
          <a:xfrm>
            <a:off x="3473585" y="5239658"/>
            <a:ext cx="756255" cy="358336"/>
          </a:xfrm>
          <a:prstGeom prst="rect">
            <a:avLst/>
          </a:prstGeom>
        </p:spPr>
      </p:pic>
      <p:sp>
        <p:nvSpPr>
          <p:cNvPr id="106" name="TextBox 105">
            <a:extLst>
              <a:ext uri="{FF2B5EF4-FFF2-40B4-BE49-F238E27FC236}">
                <a16:creationId xmlns:a16="http://schemas.microsoft.com/office/drawing/2014/main" id="{6A3AA946-537A-4A4D-B746-E9A28DF70D33}"/>
              </a:ext>
            </a:extLst>
          </p:cNvPr>
          <p:cNvSpPr txBox="1"/>
          <p:nvPr/>
        </p:nvSpPr>
        <p:spPr>
          <a:xfrm>
            <a:off x="3129076" y="5009104"/>
            <a:ext cx="1097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Threshold</a:t>
            </a:r>
            <a:endParaRPr lang="zh-TW" altLang="en-US" sz="1200" dirty="0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FD0F76BF-BD0E-47AC-800F-37DA7CC83F76}"/>
              </a:ext>
            </a:extLst>
          </p:cNvPr>
          <p:cNvCxnSpPr>
            <a:cxnSpLocks/>
          </p:cNvCxnSpPr>
          <p:nvPr/>
        </p:nvCxnSpPr>
        <p:spPr>
          <a:xfrm>
            <a:off x="5475490" y="5751169"/>
            <a:ext cx="1239439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D0425C6-BC15-4DE7-99B6-4A82EA0BCBE0}"/>
              </a:ext>
            </a:extLst>
          </p:cNvPr>
          <p:cNvSpPr/>
          <p:nvPr/>
        </p:nvSpPr>
        <p:spPr>
          <a:xfrm>
            <a:off x="6723307" y="5122140"/>
            <a:ext cx="1329265" cy="89637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Labeling</a:t>
            </a:r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5AF925DB-4B8B-4F60-BE39-4DB4709B80DC}"/>
              </a:ext>
            </a:extLst>
          </p:cNvPr>
          <p:cNvCxnSpPr/>
          <p:nvPr/>
        </p:nvCxnSpPr>
        <p:spPr>
          <a:xfrm>
            <a:off x="6139106" y="5457879"/>
            <a:ext cx="584201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90E61F71-D4F7-4580-9105-E6DC2E476172}"/>
              </a:ext>
            </a:extLst>
          </p:cNvPr>
          <p:cNvSpPr txBox="1"/>
          <p:nvPr/>
        </p:nvSpPr>
        <p:spPr>
          <a:xfrm>
            <a:off x="5713310" y="5152621"/>
            <a:ext cx="10516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Input Image</a:t>
            </a:r>
            <a:endParaRPr lang="zh-TW" altLang="en-US" sz="1200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CFE2F39-209A-4FE6-930E-72C37DE1D220}"/>
              </a:ext>
            </a:extLst>
          </p:cNvPr>
          <p:cNvCxnSpPr>
            <a:cxnSpLocks/>
          </p:cNvCxnSpPr>
          <p:nvPr/>
        </p:nvCxnSpPr>
        <p:spPr>
          <a:xfrm>
            <a:off x="8052572" y="5751169"/>
            <a:ext cx="1463473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4C22E6D6-2107-424E-B845-FCB82496BFD2}"/>
              </a:ext>
            </a:extLst>
          </p:cNvPr>
          <p:cNvSpPr txBox="1"/>
          <p:nvPr/>
        </p:nvSpPr>
        <p:spPr>
          <a:xfrm>
            <a:off x="8701694" y="5435507"/>
            <a:ext cx="10516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Result Image</a:t>
            </a:r>
            <a:endParaRPr lang="zh-TW" altLang="en-US" sz="1200" dirty="0"/>
          </a:p>
        </p:txBody>
      </p:sp>
      <p:sp>
        <p:nvSpPr>
          <p:cNvPr id="118" name="Title 1">
            <a:extLst>
              <a:ext uri="{FF2B5EF4-FFF2-40B4-BE49-F238E27FC236}">
                <a16:creationId xmlns:a16="http://schemas.microsoft.com/office/drawing/2014/main" id="{09E024C2-5287-472F-9DB1-DB137478A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TW" dirty="0"/>
              <a:t>Design Block</a:t>
            </a:r>
            <a:endParaRPr lang="zh-TW" altLang="en-US" dirty="0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B508BFA8-D5BC-4F31-AF35-01DF5F984D52}"/>
              </a:ext>
            </a:extLst>
          </p:cNvPr>
          <p:cNvSpPr/>
          <p:nvPr/>
        </p:nvSpPr>
        <p:spPr>
          <a:xfrm>
            <a:off x="1134777" y="1685763"/>
            <a:ext cx="1329265" cy="1136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Param Setting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49A46E5F-0BEA-4E68-9562-951B1B54522E}"/>
              </a:ext>
            </a:extLst>
          </p:cNvPr>
          <p:cNvCxnSpPr>
            <a:cxnSpLocks/>
          </p:cNvCxnSpPr>
          <p:nvPr/>
        </p:nvCxnSpPr>
        <p:spPr>
          <a:xfrm>
            <a:off x="2464042" y="1982174"/>
            <a:ext cx="829736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5B527FD3-6F54-41D6-B332-9CFF73B6D1A3}"/>
              </a:ext>
            </a:extLst>
          </p:cNvPr>
          <p:cNvCxnSpPr>
            <a:cxnSpLocks/>
          </p:cNvCxnSpPr>
          <p:nvPr/>
        </p:nvCxnSpPr>
        <p:spPr>
          <a:xfrm>
            <a:off x="2464042" y="2229342"/>
            <a:ext cx="829736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FB4CD218-6A6E-4DC0-A11B-9D233DEC10CB}"/>
              </a:ext>
            </a:extLst>
          </p:cNvPr>
          <p:cNvCxnSpPr>
            <a:cxnSpLocks/>
          </p:cNvCxnSpPr>
          <p:nvPr/>
        </p:nvCxnSpPr>
        <p:spPr>
          <a:xfrm>
            <a:off x="2466438" y="2495852"/>
            <a:ext cx="829736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84BDD69A-80E3-42A6-A4FE-3D349652A311}"/>
              </a:ext>
            </a:extLst>
          </p:cNvPr>
          <p:cNvCxnSpPr>
            <a:cxnSpLocks/>
          </p:cNvCxnSpPr>
          <p:nvPr/>
        </p:nvCxnSpPr>
        <p:spPr>
          <a:xfrm flipV="1">
            <a:off x="2461767" y="2729166"/>
            <a:ext cx="822407" cy="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4B19AD8C-231C-4DA2-890E-F7C3AA4619B1}"/>
              </a:ext>
            </a:extLst>
          </p:cNvPr>
          <p:cNvCxnSpPr>
            <a:cxnSpLocks/>
          </p:cNvCxnSpPr>
          <p:nvPr/>
        </p:nvCxnSpPr>
        <p:spPr>
          <a:xfrm flipV="1">
            <a:off x="2469565" y="1755984"/>
            <a:ext cx="822407" cy="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6049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139</Words>
  <Application>Microsoft Office PowerPoint</Application>
  <PresentationFormat>Widescreen</PresentationFormat>
  <Paragraphs>48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Cambria Math</vt:lpstr>
      <vt:lpstr>Office Theme</vt:lpstr>
      <vt:lpstr>Image Segmentation of Concrete Roads</vt:lpstr>
      <vt:lpstr>Requirement</vt:lpstr>
      <vt:lpstr>Breakdown</vt:lpstr>
      <vt:lpstr>Design Block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Image Segmentation of Concrete Roads</dc:title>
  <dc:creator>Kenny Gun</dc:creator>
  <cp:lastModifiedBy>Kenny Gun</cp:lastModifiedBy>
  <cp:revision>4</cp:revision>
  <dcterms:created xsi:type="dcterms:W3CDTF">2024-10-19T02:09:08Z</dcterms:created>
  <dcterms:modified xsi:type="dcterms:W3CDTF">2024-10-23T15:52:25Z</dcterms:modified>
</cp:coreProperties>
</file>