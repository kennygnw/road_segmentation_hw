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1" r:id="rId5"/>
    <p:sldId id="263" r:id="rId6"/>
    <p:sldId id="270" r:id="rId7"/>
    <p:sldId id="264" r:id="rId8"/>
    <p:sldId id="266" r:id="rId9"/>
    <p:sldId id="267" r:id="rId10"/>
    <p:sldId id="268" r:id="rId11"/>
    <p:sldId id="273" r:id="rId12"/>
    <p:sldId id="272" r:id="rId13"/>
    <p:sldId id="271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2EADB78-6CAB-4B59-8123-C00D5C9EFEAC}">
          <p14:sldIdLst>
            <p14:sldId id="256"/>
            <p14:sldId id="259"/>
            <p14:sldId id="257"/>
            <p14:sldId id="261"/>
            <p14:sldId id="263"/>
            <p14:sldId id="270"/>
            <p14:sldId id="264"/>
            <p14:sldId id="266"/>
            <p14:sldId id="267"/>
            <p14:sldId id="268"/>
          </p14:sldIdLst>
        </p14:section>
        <p14:section name="older versions" id="{0D744D20-2BE3-400A-BA01-3FDEC0390A14}">
          <p14:sldIdLst>
            <p14:sldId id="273"/>
            <p14:sldId id="272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29T14:32:42.3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24575,'25'0'0,"17"0"0,40 4 0,31 10 0,59 15 0,57 11 0,43 12 0,57 22 0,14 8-3276,-26-7 3267,-45-12 9,-57-16-727,-55-17 727,-52-12 0,-44-15 0,-33-7-4179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29T14:32:42.9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84 0 24575,'6'1'0,"0"0"0,-1 0 0,1 0 0,-1 1 0,1 0 0,-1 0 0,1 0 0,7 5 0,1 0 0,33 17 0,-3 2 0,0 2 0,48 40 0,115 113 0,-156-134 0,-48-44 0,1 0 0,-1 0 0,0 0 0,1 0 0,-1 1 0,4 7 0,-6-11 0,-1 1 0,0-1 0,0 1 0,0-1 0,1 1 0,-1-1 0,0 1 0,0-1 0,0 1 0,0-1 0,0 1 0,0-1 0,0 1 0,0-1 0,0 1 0,0-1 0,0 1 0,0 0 0,-1-1 0,1 1 0,0-1 0,-1 1 0,1 0 0,-1 0 0,0 0 0,0-1 0,0 1 0,0 0 0,0-1 0,0 1 0,0 0 0,0-1 0,0 1 0,0-1 0,0 0 0,0 1 0,0-1 0,-2 0 0,-104 19 69,53-11-1742,-54 15 1,87-17 711,-34 11-435,-75 31 0,116-42 1468,0 1 0,1 0 0,0 0 0,0 2 0,1 0 0,0 0 0,1 1 0,0 0 0,0 1-1,-15 20 1,23-25 519,-1 0 0,1 0-1,0 1 1,1-1-1,-1 1 1,-2 12 0,2 5-6679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29T14:35:09.0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 24575,'60'0'0,"41"0"0,93 4 0,75 10 0,142 15 0,133 11 0,105 12 0,133 22 0,35 8-3276,-61-7 3267,-109-12 9,-134-16-727,-134-17 727,-121-12 0,-105-15 0,-78-7-4179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29T14:35:09.0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200 0 24575,'14'1'0,"0"0"0,-1 0 0,1 0 0,-1 1 0,0 0 0,0 0 0,-1 0 0,21 5 0,1 0 0,75 17 0,-2 2 0,-2 2 0,113 40 0,275 113 0,-372-134 0,-113-44 0,0 0 0,1 0 0,-1 0 0,-1 0 0,0 1 0,11 7 0,-17-11 0,0 1 0,-1-1 0,1 1 0,-1-1 0,1 1 0,-1-1 0,0 1 0,0-1 0,1 1 0,-1-1 0,0 1 0,0-1 0,0 1 0,0-1 0,0 1 0,-1-1 0,1 1 0,0 0 0,-1-1 0,1 1 0,-1-1 0,0 1 0,-1 0 0,0 0 0,0 0 0,0-1 0,0 1 0,0 0 0,-1-1 0,1 1 0,-1 0 0,1-1 0,-1 1 0,1-1 0,-1 0 0,0 1 0,1-1 0,-4 0 0,-250 19 69,128-11-1742,-130 15 1,210-17 711,-85 11-435,-176 31 0,276-42 1468,1 1 0,0 0 0,1 0 0,1 2 0,0 0 0,2 0 0,1 1 0,0 0 0,2 1-1,-36 20 1,52-25 519,1 0 0,1 0-1,0 1 1,1-1-1,0 1 1,-6 12 0,4 5-6679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F6447-78BE-47D3-B6AB-5E08765DE2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FA14A4-584F-456C-B76B-6F32E66F1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C012A2-16FF-4080-9AA0-0BC69F8B8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2024/11/13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A3D66-6F87-41E3-9E18-416E5E448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9F40C7-008F-4CD3-9CE9-BB3A523F0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4364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F49CD-834E-4395-A8BF-0A8CD2D2E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7B9C5-6530-4F38-9301-68EBE12C1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EAB9A6-204A-4501-BD31-3ED4CE241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2024/11/13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C1A95-4545-41D6-8F30-A862A55F9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DE74B-0A55-4460-B6A0-466F90D22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5464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F054-96D7-49AF-884B-4C179D01A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AA281-D0A0-496C-BC88-BC69CBA61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482BF-5933-44A7-9B66-D0ED4936F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2024/11/13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EFC63-7B2C-410A-8F81-41CDD6E4A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15DAB-532A-4C07-8F8B-D007D9C8B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1776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CAD18-45EB-4D71-AC08-76EC40DBA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FB1A-46DA-4DCB-A6D2-86A7361948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EA6E40-D3BB-4856-BD18-BE47AABFDB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CEC1BD-3D79-454E-B8FC-BF8A81285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2024/11/13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7EBD4A-361E-42AC-95EC-031B829EF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7BB12C-55EC-4C47-830F-EA4F63070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3735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A7D07-0825-4711-B86E-52AEFF1F5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3865F1-893E-4D48-937C-960636CC1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38DE1A-45C9-4731-A3AB-9E573AB23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3962E-B14B-4728-B00E-C4121B66D8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2499ED-D6E1-4EFC-B187-4F7755E81A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348F0B-8640-4BAD-8955-852F8B2B6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2024/11/13</a:t>
            </a:fld>
            <a:endParaRPr lang="zh-TW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768012-3C56-4A15-BE32-62AE5E1C3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9ECBA3-8486-46E8-9566-0EB463D52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91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055C6-3C7E-4528-AFE5-5ED6A7E3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A43BD2-1B1A-4143-9B7C-97C4CC1BC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2024/11/13</a:t>
            </a:fld>
            <a:endParaRPr lang="zh-TW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56F52D-B00A-4B65-B83A-1289D1DF4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0EA9B5-E4A5-4846-A594-FFB6169D2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2669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C4639-A7FF-4E7E-80DB-1E2FB1EA6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2024/11/13</a:t>
            </a:fld>
            <a:endParaRPr lang="zh-TW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7A5E33-034E-4A1F-B376-A565F4C48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858FA-8857-4E94-ADB7-7F12AD03D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44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D1D96-87D3-4389-A782-9CEFA0A1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F88FF-456C-43D9-B840-0541CA277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5FEC6D-E7E3-4534-9971-4D6059C1F3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E0128-DD26-49AE-8A34-C65C4EB1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2024/11/13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1FB6A-54D1-46BA-A761-A1AE20379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E2C47-508E-49BA-8D67-14110FAC1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1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B57F5-5A1F-45BF-A16A-83EAED4E4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F1F731-0C0B-4218-B10A-E677BEF2D6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36957-6D68-4EDE-A917-D5E168CF9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0189B0-73C7-4A9D-8C11-BFB3DF14A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2024/11/13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BF053B-B1EB-4BB1-B509-E8237755D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D9C2E-A1AF-495D-8AEE-499EB4EF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055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3582-412B-41FF-BF32-91231885C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4E82F-B305-4689-A068-7857689A1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F67EE-2C63-420E-B7E9-D2F393A98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2024/11/13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8E1BF-6C96-4086-B5C0-88E29596F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32D955-938A-4BAD-9FC5-A1303E4EA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3708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049A96-694B-4994-B436-4F14BBBCD2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CB741A-B2E5-4339-9B82-8376321D20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9F5E0-F8DB-4E51-9851-D5FEB224C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2024/11/13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0F8D6-81A6-42F3-9A43-050760F78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7A2AC-46E2-4D4A-9E87-6899E02C7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520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BB576B-DAE7-4A8A-A5D0-585BB6316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E60CD3-395D-4AD3-A8E3-112894B06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41E24-7D07-4CAD-BED6-8F913A1920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47A6F-3EBE-4C73-A7AD-6A61AF5187C9}" type="datetimeFigureOut">
              <a:rPr lang="zh-TW" altLang="en-US" smtClean="0"/>
              <a:t>2024/11/13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13418-8E44-4FEA-9356-2B0592617E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BB192-01BC-4264-B9C0-7F21A7220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122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5" Type="http://schemas.openxmlformats.org/officeDocument/2006/relationships/image" Target="../media/image5.png"/><Relationship Id="rId4" Type="http://schemas.openxmlformats.org/officeDocument/2006/relationships/customXml" Target="../ink/ink2.xml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0DAF0-003E-437F-A70D-11462AF28C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Image Segmentation of Concrete Roads</a:t>
            </a:r>
            <a:endParaRPr lang="zh-TW" alt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DC5952-8224-4145-8B66-41925C8D42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吳永保 </a:t>
            </a:r>
            <a:r>
              <a:rPr lang="en-US" altLang="zh-TW" dirty="0"/>
              <a:t>C110137112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73939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A325B-31E5-41DC-93DE-054EDED2B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0" cy="1325563"/>
          </a:xfrm>
        </p:spPr>
        <p:txBody>
          <a:bodyPr/>
          <a:lstStyle/>
          <a:p>
            <a:r>
              <a:rPr lang="en-US" altLang="zh-TW" dirty="0"/>
              <a:t>Requirement</a:t>
            </a:r>
            <a:endParaRPr lang="zh-TW" alt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3F8999-EB39-433F-BAB5-22456FE47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964271" cy="4351338"/>
          </a:xfrm>
        </p:spPr>
        <p:txBody>
          <a:bodyPr/>
          <a:lstStyle/>
          <a:p>
            <a:pPr lvl="1">
              <a:lnSpc>
                <a:spcPct val="200000"/>
              </a:lnSpc>
            </a:pPr>
            <a:r>
              <a:rPr lang="zh-TW" altLang="en-US" dirty="0"/>
              <a:t>馬路分割</a:t>
            </a:r>
            <a:endParaRPr lang="en-US" altLang="zh-TW" dirty="0"/>
          </a:p>
          <a:p>
            <a:pPr lvl="1">
              <a:lnSpc>
                <a:spcPct val="200000"/>
              </a:lnSpc>
            </a:pPr>
            <a:r>
              <a:rPr lang="zh-TW" altLang="en-US" dirty="0"/>
              <a:t>使用</a:t>
            </a:r>
            <a:r>
              <a:rPr lang="en-US" altLang="zh-TW" dirty="0"/>
              <a:t>LBP</a:t>
            </a:r>
            <a:r>
              <a:rPr lang="zh-TW" altLang="en-US" dirty="0"/>
              <a:t>和</a:t>
            </a:r>
            <a:r>
              <a:rPr lang="en-US" altLang="zh-TW" dirty="0"/>
              <a:t>BFS</a:t>
            </a:r>
            <a:r>
              <a:rPr lang="zh-TW" altLang="en-US" dirty="0"/>
              <a:t>或</a:t>
            </a:r>
            <a:r>
              <a:rPr lang="en-US" altLang="zh-TW" dirty="0"/>
              <a:t>DFS</a:t>
            </a:r>
          </a:p>
        </p:txBody>
      </p:sp>
    </p:spTree>
    <p:extLst>
      <p:ext uri="{BB962C8B-B14F-4D97-AF65-F5344CB8AC3E}">
        <p14:creationId xmlns:p14="http://schemas.microsoft.com/office/powerpoint/2010/main" val="672167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7A478E1C-5D24-43B3-91F2-36D6F0998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76" y="-3210"/>
            <a:ext cx="10515600" cy="1325563"/>
          </a:xfrm>
        </p:spPr>
        <p:txBody>
          <a:bodyPr/>
          <a:lstStyle/>
          <a:p>
            <a:r>
              <a:rPr lang="en-US" altLang="zh-TW" dirty="0"/>
              <a:t>Breakdown</a:t>
            </a:r>
            <a:endParaRPr lang="zh-TW" alt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9D72EA-E656-406B-A49B-C116DB539AC4}"/>
              </a:ext>
            </a:extLst>
          </p:cNvPr>
          <p:cNvSpPr/>
          <p:nvPr/>
        </p:nvSpPr>
        <p:spPr>
          <a:xfrm>
            <a:off x="1896515" y="3676904"/>
            <a:ext cx="131088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抓邊</a:t>
            </a:r>
            <a:endParaRPr lang="en-US" altLang="zh-TW" dirty="0"/>
          </a:p>
          <a:p>
            <a:pPr algn="ctr"/>
            <a:r>
              <a:rPr lang="en-US" altLang="zh-TW" dirty="0"/>
              <a:t>(Sobel)</a:t>
            </a:r>
            <a:endParaRPr lang="zh-TW" alt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222FEF-8B05-4AB8-A4F4-D3A596A76857}"/>
              </a:ext>
            </a:extLst>
          </p:cNvPr>
          <p:cNvSpPr/>
          <p:nvPr/>
        </p:nvSpPr>
        <p:spPr>
          <a:xfrm>
            <a:off x="2804218" y="2518641"/>
            <a:ext cx="1794678" cy="85332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紋路</a:t>
            </a:r>
            <a:endParaRPr lang="en-US" altLang="zh-TW" dirty="0"/>
          </a:p>
          <a:p>
            <a:pPr algn="ctr"/>
            <a:r>
              <a:rPr lang="en-US" altLang="zh-TW" dirty="0"/>
              <a:t>(</a:t>
            </a:r>
            <a:r>
              <a:rPr lang="en-US" altLang="zh-TW" dirty="0" err="1"/>
              <a:t>get_lbp_image</a:t>
            </a:r>
            <a:r>
              <a:rPr lang="en-US" altLang="zh-TW" dirty="0"/>
              <a:t>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5F8F078-9CA8-4AC6-BEAF-8EAA6BF8ACE9}"/>
              </a:ext>
            </a:extLst>
          </p:cNvPr>
          <p:cNvSpPr/>
          <p:nvPr/>
        </p:nvSpPr>
        <p:spPr>
          <a:xfrm>
            <a:off x="9839040" y="2526425"/>
            <a:ext cx="116513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上色</a:t>
            </a:r>
            <a:endParaRPr lang="en-US" altLang="zh-TW" dirty="0"/>
          </a:p>
          <a:p>
            <a:pPr algn="ctr"/>
            <a:r>
              <a:rPr lang="en-US" altLang="zh-TW" dirty="0"/>
              <a:t>(Labeling)</a:t>
            </a:r>
            <a:endParaRPr lang="zh-TW" alt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94A11E-4E6C-4E82-8900-DA2B7E229212}"/>
              </a:ext>
            </a:extLst>
          </p:cNvPr>
          <p:cNvSpPr/>
          <p:nvPr/>
        </p:nvSpPr>
        <p:spPr>
          <a:xfrm>
            <a:off x="4753143" y="2518641"/>
            <a:ext cx="1440000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馬路搜尋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FDF0E32-EA4F-4E27-9904-33BCFC02D9A0}"/>
              </a:ext>
            </a:extLst>
          </p:cNvPr>
          <p:cNvSpPr/>
          <p:nvPr/>
        </p:nvSpPr>
        <p:spPr>
          <a:xfrm>
            <a:off x="6500175" y="3676901"/>
            <a:ext cx="1647278" cy="107886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值方圖前</a:t>
            </a:r>
            <a:r>
              <a:rPr lang="en-US" altLang="zh-TW" dirty="0"/>
              <a:t>N</a:t>
            </a:r>
            <a:r>
              <a:rPr lang="zh-TW" altLang="en-US" dirty="0"/>
              <a:t>大 </a:t>
            </a:r>
            <a:r>
              <a:rPr lang="en-US" altLang="zh-TW" dirty="0"/>
              <a:t>(Mode)</a:t>
            </a:r>
          </a:p>
          <a:p>
            <a:pPr algn="ctr"/>
            <a:r>
              <a:rPr lang="en-US" altLang="zh-TW" dirty="0"/>
              <a:t>(</a:t>
            </a:r>
            <a:r>
              <a:rPr lang="en-US" altLang="zh-TW" dirty="0" err="1"/>
              <a:t>get_top_n_modes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847CBB-A3A6-4DA6-B58F-7D4CA395B3BC}"/>
              </a:ext>
            </a:extLst>
          </p:cNvPr>
          <p:cNvSpPr/>
          <p:nvPr/>
        </p:nvSpPr>
        <p:spPr>
          <a:xfrm>
            <a:off x="5692824" y="326842"/>
            <a:ext cx="2243666" cy="85238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馬路分割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5A1CAAE4-868D-4833-AC78-3AFFEA88A408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rot="5400000">
            <a:off x="3634886" y="-660193"/>
            <a:ext cx="1340348" cy="5019195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6290EDF-5EF2-47E7-9FFE-41B69A333D0F}"/>
              </a:ext>
            </a:extLst>
          </p:cNvPr>
          <p:cNvSpPr/>
          <p:nvPr/>
        </p:nvSpPr>
        <p:spPr>
          <a:xfrm>
            <a:off x="895462" y="2519578"/>
            <a:ext cx="1800000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前處理</a:t>
            </a: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81376B8-B122-43AE-BDFC-98CFA5F212A7}"/>
              </a:ext>
            </a:extLst>
          </p:cNvPr>
          <p:cNvCxnSpPr>
            <a:cxnSpLocks/>
            <a:stCxn id="10" idx="2"/>
            <a:endCxn id="25" idx="0"/>
          </p:cNvCxnSpPr>
          <p:nvPr/>
        </p:nvCxnSpPr>
        <p:spPr>
          <a:xfrm rot="5400000">
            <a:off x="4588402" y="292385"/>
            <a:ext cx="1339411" cy="311310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63125-3B1E-4DD7-A1C0-F9B063EC5445}"/>
              </a:ext>
            </a:extLst>
          </p:cNvPr>
          <p:cNvSpPr/>
          <p:nvPr/>
        </p:nvSpPr>
        <p:spPr>
          <a:xfrm>
            <a:off x="7011629" y="2518641"/>
            <a:ext cx="2243666" cy="85332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紋路統計值方圖</a:t>
            </a:r>
            <a:endParaRPr lang="en-US" altLang="zh-TW" dirty="0"/>
          </a:p>
          <a:p>
            <a:pPr algn="ctr"/>
            <a:r>
              <a:rPr lang="en-US" altLang="zh-TW" dirty="0"/>
              <a:t>(</a:t>
            </a:r>
            <a:r>
              <a:rPr lang="en-US" altLang="zh-TW" dirty="0" err="1"/>
              <a:t>compute_lbp_histogram</a:t>
            </a:r>
            <a:r>
              <a:rPr lang="en-US" altLang="zh-TW" dirty="0"/>
              <a:t>)</a:t>
            </a:r>
            <a:endParaRPr lang="zh-TW" altLang="en-US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1BE21781-5841-41A9-B1C4-5E6C1CFB308B}"/>
              </a:ext>
            </a:extLst>
          </p:cNvPr>
          <p:cNvCxnSpPr>
            <a:cxnSpLocks/>
            <a:stCxn id="10" idx="2"/>
            <a:endCxn id="41" idx="0"/>
          </p:cNvCxnSpPr>
          <p:nvPr/>
        </p:nvCxnSpPr>
        <p:spPr>
          <a:xfrm rot="16200000" flipH="1">
            <a:off x="6804354" y="1189532"/>
            <a:ext cx="1339411" cy="1318805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FE4C6C4-D62D-4CA6-8CEC-5E33587678BB}"/>
              </a:ext>
            </a:extLst>
          </p:cNvPr>
          <p:cNvCxnSpPr>
            <a:cxnSpLocks/>
            <a:stCxn id="10" idx="2"/>
            <a:endCxn id="28" idx="0"/>
          </p:cNvCxnSpPr>
          <p:nvPr/>
        </p:nvCxnSpPr>
        <p:spPr>
          <a:xfrm rot="5400000">
            <a:off x="5474195" y="1178178"/>
            <a:ext cx="1339411" cy="134151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757F239F-F800-48E5-A32C-6D3A9192AB93}"/>
              </a:ext>
            </a:extLst>
          </p:cNvPr>
          <p:cNvSpPr/>
          <p:nvPr/>
        </p:nvSpPr>
        <p:spPr>
          <a:xfrm>
            <a:off x="4578990" y="3676904"/>
            <a:ext cx="1800000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廣先搜尋</a:t>
            </a:r>
            <a:r>
              <a:rPr lang="en-US" altLang="zh-TW" dirty="0"/>
              <a:t>(</a:t>
            </a:r>
            <a:r>
              <a:rPr lang="en-US" altLang="zh-TW" dirty="0" err="1"/>
              <a:t>get_bfs_kernel</a:t>
            </a:r>
            <a:r>
              <a:rPr lang="en-US" altLang="zh-TW" dirty="0"/>
              <a:t>)</a:t>
            </a:r>
            <a:endParaRPr lang="zh-TW" altLang="en-US" dirty="0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821458F-6FCA-47C9-985D-F62236245139}"/>
              </a:ext>
            </a:extLst>
          </p:cNvPr>
          <p:cNvCxnSpPr>
            <a:cxnSpLocks/>
            <a:stCxn id="41" idx="2"/>
            <a:endCxn id="29" idx="0"/>
          </p:cNvCxnSpPr>
          <p:nvPr/>
        </p:nvCxnSpPr>
        <p:spPr>
          <a:xfrm rot="5400000">
            <a:off x="7576171" y="3119610"/>
            <a:ext cx="304934" cy="809648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88227769-DFE2-417F-9B7F-FE946A3406B1}"/>
              </a:ext>
            </a:extLst>
          </p:cNvPr>
          <p:cNvSpPr/>
          <p:nvPr/>
        </p:nvSpPr>
        <p:spPr>
          <a:xfrm>
            <a:off x="8242948" y="3676903"/>
            <a:ext cx="1440000" cy="1078861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Mode </a:t>
            </a:r>
            <a:r>
              <a:rPr lang="zh-TW" altLang="en-US" sz="1600" dirty="0"/>
              <a:t>距離比對</a:t>
            </a:r>
            <a:endParaRPr lang="en-US" altLang="zh-TW" sz="1600" dirty="0"/>
          </a:p>
          <a:p>
            <a:pPr algn="ctr"/>
            <a:r>
              <a:rPr lang="en-US" altLang="zh-TW" sz="1600" dirty="0"/>
              <a:t>(</a:t>
            </a:r>
            <a:r>
              <a:rPr lang="en-US" altLang="zh-TW" sz="1600" dirty="0" err="1"/>
              <a:t>dist_compare</a:t>
            </a:r>
            <a:r>
              <a:rPr lang="en-US" altLang="zh-TW" sz="1600" dirty="0"/>
              <a:t>)</a:t>
            </a:r>
            <a:endParaRPr lang="zh-TW" altLang="en-US" sz="1600" dirty="0"/>
          </a:p>
        </p:txBody>
      </p: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5FF575A9-C470-4BCD-850A-63BA04E32426}"/>
              </a:ext>
            </a:extLst>
          </p:cNvPr>
          <p:cNvCxnSpPr>
            <a:cxnSpLocks/>
            <a:stCxn id="10" idx="2"/>
            <a:endCxn id="27" idx="0"/>
          </p:cNvCxnSpPr>
          <p:nvPr/>
        </p:nvCxnSpPr>
        <p:spPr>
          <a:xfrm rot="16200000" flipH="1">
            <a:off x="7944535" y="49351"/>
            <a:ext cx="1347195" cy="360695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2EC815F-26A7-4859-8A44-F1D95A61D878}"/>
              </a:ext>
            </a:extLst>
          </p:cNvPr>
          <p:cNvCxnSpPr>
            <a:cxnSpLocks/>
            <a:stCxn id="28" idx="2"/>
            <a:endCxn id="55" idx="0"/>
          </p:cNvCxnSpPr>
          <p:nvPr/>
        </p:nvCxnSpPr>
        <p:spPr>
          <a:xfrm>
            <a:off x="5473143" y="3136707"/>
            <a:ext cx="5847" cy="54019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22E40CD1-FDD5-4C66-806D-F4612E5CFC06}"/>
              </a:ext>
            </a:extLst>
          </p:cNvPr>
          <p:cNvCxnSpPr>
            <a:cxnSpLocks/>
            <a:stCxn id="41" idx="2"/>
            <a:endCxn id="115" idx="0"/>
          </p:cNvCxnSpPr>
          <p:nvPr/>
        </p:nvCxnSpPr>
        <p:spPr>
          <a:xfrm rot="16200000" flipH="1">
            <a:off x="8395737" y="3109692"/>
            <a:ext cx="304936" cy="829486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B3AC97DC-B15C-4265-A376-21D2707D7072}"/>
              </a:ext>
            </a:extLst>
          </p:cNvPr>
          <p:cNvSpPr/>
          <p:nvPr/>
        </p:nvSpPr>
        <p:spPr>
          <a:xfrm>
            <a:off x="7413462" y="5060704"/>
            <a:ext cx="1440000" cy="900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</a:t>
            </a:r>
            <a:r>
              <a:rPr lang="en-US" altLang="zh-TW" dirty="0"/>
              <a:t>N</a:t>
            </a:r>
            <a:r>
              <a:rPr lang="zh-TW" altLang="en-US" dirty="0"/>
              <a:t> </a:t>
            </a:r>
            <a:r>
              <a:rPr lang="en-US" altLang="zh-TW" dirty="0"/>
              <a:t>Mode</a:t>
            </a:r>
            <a:r>
              <a:rPr lang="zh-TW" altLang="en-US" dirty="0"/>
              <a:t> 距離</a:t>
            </a:r>
            <a:endParaRPr lang="en-US" altLang="zh-TW" dirty="0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02F7FB69-EC37-4EE6-9129-5D51C54AA1E3}"/>
              </a:ext>
            </a:extLst>
          </p:cNvPr>
          <p:cNvCxnSpPr>
            <a:cxnSpLocks/>
            <a:stCxn id="29" idx="2"/>
            <a:endCxn id="71" idx="0"/>
          </p:cNvCxnSpPr>
          <p:nvPr/>
        </p:nvCxnSpPr>
        <p:spPr>
          <a:xfrm rot="16200000" flipH="1">
            <a:off x="7576169" y="4503411"/>
            <a:ext cx="304938" cy="809648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5B95D257-35E4-4049-AC05-6A862EB6DAD2}"/>
              </a:ext>
            </a:extLst>
          </p:cNvPr>
          <p:cNvCxnSpPr>
            <a:cxnSpLocks/>
            <a:stCxn id="19" idx="2"/>
            <a:endCxn id="24" idx="0"/>
          </p:cNvCxnSpPr>
          <p:nvPr/>
        </p:nvCxnSpPr>
        <p:spPr>
          <a:xfrm rot="16200000" flipH="1">
            <a:off x="1904080" y="3029026"/>
            <a:ext cx="539260" cy="756496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F8A1B120-F393-4842-A471-B3278D0AC8C2}"/>
              </a:ext>
            </a:extLst>
          </p:cNvPr>
          <p:cNvSpPr/>
          <p:nvPr/>
        </p:nvSpPr>
        <p:spPr>
          <a:xfrm>
            <a:off x="304749" y="3678934"/>
            <a:ext cx="131088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灰階</a:t>
            </a:r>
            <a:endParaRPr lang="en-US" altLang="zh-TW" dirty="0"/>
          </a:p>
          <a:p>
            <a:pPr algn="ctr"/>
            <a:r>
              <a:rPr lang="en-US" altLang="zh-TW" dirty="0"/>
              <a:t>(Grayscale)</a:t>
            </a:r>
            <a:endParaRPr lang="zh-TW" altLang="en-US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C676E60-46DC-465D-9887-3294ADD6DCF3}"/>
              </a:ext>
            </a:extLst>
          </p:cNvPr>
          <p:cNvCxnSpPr>
            <a:cxnSpLocks/>
            <a:stCxn id="19" idx="2"/>
            <a:endCxn id="83" idx="0"/>
          </p:cNvCxnSpPr>
          <p:nvPr/>
        </p:nvCxnSpPr>
        <p:spPr>
          <a:xfrm rot="5400000">
            <a:off x="1107182" y="2990654"/>
            <a:ext cx="541290" cy="83527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4B4C60-96B9-4E13-820C-68ABF1A7A83A}"/>
              </a:ext>
            </a:extLst>
          </p:cNvPr>
          <p:cNvSpPr txBox="1"/>
          <p:nvPr/>
        </p:nvSpPr>
        <p:spPr>
          <a:xfrm>
            <a:off x="6361436" y="5946003"/>
            <a:ext cx="34776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(</a:t>
            </a:r>
            <a:r>
              <a:rPr lang="en-US" altLang="zh-TW" sz="1400" dirty="0" err="1"/>
              <a:t>euclidean_distance_top_modes_weighted</a:t>
            </a:r>
            <a:r>
              <a:rPr lang="en-US" altLang="zh-TW" sz="1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95280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6" name="Group 175">
            <a:extLst>
              <a:ext uri="{FF2B5EF4-FFF2-40B4-BE49-F238E27FC236}">
                <a16:creationId xmlns:a16="http://schemas.microsoft.com/office/drawing/2014/main" id="{05EBFF9D-72C1-47AA-888D-75B7EEC014DC}"/>
              </a:ext>
            </a:extLst>
          </p:cNvPr>
          <p:cNvGrpSpPr/>
          <p:nvPr/>
        </p:nvGrpSpPr>
        <p:grpSpPr>
          <a:xfrm>
            <a:off x="3228150" y="5119744"/>
            <a:ext cx="1532109" cy="341307"/>
            <a:chOff x="2688187" y="3295474"/>
            <a:chExt cx="1532109" cy="341307"/>
          </a:xfrm>
        </p:grpSpPr>
        <p:cxnSp>
          <p:nvCxnSpPr>
            <p:cNvPr id="177" name="Straight Arrow Connector 176">
              <a:extLst>
                <a:ext uri="{FF2B5EF4-FFF2-40B4-BE49-F238E27FC236}">
                  <a16:creationId xmlns:a16="http://schemas.microsoft.com/office/drawing/2014/main" id="{F4E3F911-9686-4FB4-A4DF-D9AD2CAEA7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8187" y="3295474"/>
              <a:ext cx="785199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C00A7964-02A5-43F9-A7F9-9D81343FD27E}"/>
                </a:ext>
              </a:extLst>
            </p:cNvPr>
            <p:cNvSpPr txBox="1"/>
            <p:nvPr/>
          </p:nvSpPr>
          <p:spPr>
            <a:xfrm>
              <a:off x="2731010" y="3359782"/>
              <a:ext cx="14892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Float distances[L,W]</a:t>
              </a:r>
              <a:endParaRPr lang="zh-TW" altLang="en-US" sz="1200" dirty="0"/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6A553043-276B-4F30-AC63-A3C4D6F4EEC6}"/>
              </a:ext>
            </a:extLst>
          </p:cNvPr>
          <p:cNvSpPr/>
          <p:nvPr/>
        </p:nvSpPr>
        <p:spPr>
          <a:xfrm>
            <a:off x="2866832" y="3382775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Sobel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C53301-D70B-48E8-834C-CFC07477ACB7}"/>
              </a:ext>
            </a:extLst>
          </p:cNvPr>
          <p:cNvSpPr/>
          <p:nvPr/>
        </p:nvSpPr>
        <p:spPr>
          <a:xfrm>
            <a:off x="6192582" y="3382774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/>
              <a:t>get_bfs_kernel</a:t>
            </a:r>
            <a:endParaRPr lang="en-US" altLang="zh-TW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3A9EA6-FB28-4D69-9E87-D5F4FC2355AD}"/>
              </a:ext>
            </a:extLst>
          </p:cNvPr>
          <p:cNvSpPr/>
          <p:nvPr/>
        </p:nvSpPr>
        <p:spPr>
          <a:xfrm>
            <a:off x="1834968" y="4623433"/>
            <a:ext cx="1393182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euclidean_distance_top_modes_weighted</a:t>
            </a:r>
            <a:endParaRPr lang="en-US" altLang="zh-TW" sz="14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A2B030E-9FDB-4819-9689-A080918F9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206" y="3308753"/>
            <a:ext cx="359720" cy="28044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5C1262-2B06-4484-B773-8E7F91DC6B26}"/>
              </a:ext>
            </a:extLst>
          </p:cNvPr>
          <p:cNvSpPr txBox="1"/>
          <p:nvPr/>
        </p:nvSpPr>
        <p:spPr>
          <a:xfrm>
            <a:off x="2350570" y="3062813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Sobel Kernel Size</a:t>
            </a:r>
            <a:endParaRPr lang="zh-TW" altLang="en-US" sz="12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5C46C2-98B7-4E66-8366-3DE68ACEDF9D}"/>
              </a:ext>
            </a:extLst>
          </p:cNvPr>
          <p:cNvGrpSpPr/>
          <p:nvPr/>
        </p:nvGrpSpPr>
        <p:grpSpPr>
          <a:xfrm>
            <a:off x="1978840" y="3900161"/>
            <a:ext cx="1212517" cy="345062"/>
            <a:chOff x="741476" y="3260412"/>
            <a:chExt cx="1702263" cy="34506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07EDC-9401-4CAC-BA2D-87C6790E9880}"/>
                </a:ext>
              </a:extLst>
            </p:cNvPr>
            <p:cNvCxnSpPr>
              <a:cxnSpLocks/>
            </p:cNvCxnSpPr>
            <p:nvPr/>
          </p:nvCxnSpPr>
          <p:spPr>
            <a:xfrm>
              <a:off x="1422570" y="3260412"/>
              <a:ext cx="588648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C2BF97E-D781-4E87-BDB4-A89F7A66F029}"/>
                </a:ext>
              </a:extLst>
            </p:cNvPr>
            <p:cNvSpPr txBox="1"/>
            <p:nvPr/>
          </p:nvSpPr>
          <p:spPr>
            <a:xfrm>
              <a:off x="741476" y="3328475"/>
              <a:ext cx="17022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Grayscale Image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ECC5D85-43B1-4B6A-9FCE-5AE408C23E89}"/>
              </a:ext>
            </a:extLst>
          </p:cNvPr>
          <p:cNvGrpSpPr/>
          <p:nvPr/>
        </p:nvGrpSpPr>
        <p:grpSpPr>
          <a:xfrm>
            <a:off x="3775502" y="3935223"/>
            <a:ext cx="1051658" cy="296446"/>
            <a:chOff x="2676772" y="3295474"/>
            <a:chExt cx="1051658" cy="296446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D27FA63-F8F3-482A-B653-642080FE423B}"/>
                </a:ext>
              </a:extLst>
            </p:cNvPr>
            <p:cNvCxnSpPr>
              <a:cxnSpLocks/>
            </p:cNvCxnSpPr>
            <p:nvPr/>
          </p:nvCxnSpPr>
          <p:spPr>
            <a:xfrm>
              <a:off x="2777997" y="3295474"/>
              <a:ext cx="758703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592105E-F229-4296-A194-5FEB917B022A}"/>
                </a:ext>
              </a:extLst>
            </p:cNvPr>
            <p:cNvSpPr txBox="1"/>
            <p:nvPr/>
          </p:nvSpPr>
          <p:spPr>
            <a:xfrm>
              <a:off x="2676772" y="3314921"/>
              <a:ext cx="10516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Sobel Image</a:t>
              </a:r>
              <a:endParaRPr lang="zh-TW" altLang="en-US" sz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9DD6E50-714A-45F3-A2EE-DC355D652F4D}"/>
              </a:ext>
            </a:extLst>
          </p:cNvPr>
          <p:cNvGrpSpPr/>
          <p:nvPr/>
        </p:nvGrpSpPr>
        <p:grpSpPr>
          <a:xfrm>
            <a:off x="7169170" y="3935223"/>
            <a:ext cx="1471562" cy="317819"/>
            <a:chOff x="5921052" y="3295474"/>
            <a:chExt cx="1471562" cy="317819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EDA9F99-B45B-41D7-9A7A-2A76AD46BBC6}"/>
                </a:ext>
              </a:extLst>
            </p:cNvPr>
            <p:cNvCxnSpPr>
              <a:cxnSpLocks/>
            </p:cNvCxnSpPr>
            <p:nvPr/>
          </p:nvCxnSpPr>
          <p:spPr>
            <a:xfrm>
              <a:off x="5965664" y="3295474"/>
              <a:ext cx="60659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151ED0C-8E49-4CFA-9531-A2A841F4A31A}"/>
                </a:ext>
              </a:extLst>
            </p:cNvPr>
            <p:cNvSpPr txBox="1"/>
            <p:nvPr/>
          </p:nvSpPr>
          <p:spPr>
            <a:xfrm>
              <a:off x="5921052" y="3336294"/>
              <a:ext cx="147156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U8 </a:t>
              </a:r>
              <a:r>
                <a:rPr lang="en-US" altLang="zh-TW" sz="1200" dirty="0" err="1"/>
                <a:t>kernel_queue</a:t>
              </a:r>
              <a:r>
                <a:rPr lang="en-US" altLang="zh-TW" sz="1200" dirty="0"/>
                <a:t>[2] </a:t>
              </a:r>
              <a:endParaRPr lang="zh-TW" altLang="en-US" sz="1200" dirty="0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0F228E88-B8D6-414A-9401-82A445806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7393" y="3175277"/>
            <a:ext cx="366544" cy="48957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E07E764-0263-41E8-B994-0B36A4B2E131}"/>
              </a:ext>
            </a:extLst>
          </p:cNvPr>
          <p:cNvSpPr txBox="1"/>
          <p:nvPr/>
        </p:nvSpPr>
        <p:spPr>
          <a:xfrm>
            <a:off x="5637494" y="2771884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err="1"/>
              <a:t>kernel_size</a:t>
            </a:r>
            <a:endParaRPr lang="zh-TW" altLang="en-US" sz="1200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DB5E1072-8D26-4F98-A71F-2577C6CAB862}"/>
              </a:ext>
            </a:extLst>
          </p:cNvPr>
          <p:cNvCxnSpPr>
            <a:cxnSpLocks/>
            <a:endCxn id="8" idx="1"/>
          </p:cNvCxnSpPr>
          <p:nvPr/>
        </p:nvCxnSpPr>
        <p:spPr>
          <a:xfrm rot="10800000" flipV="1">
            <a:off x="1834969" y="4363101"/>
            <a:ext cx="8741391" cy="584331"/>
          </a:xfrm>
          <a:prstGeom prst="bentConnector3">
            <a:avLst>
              <a:gd name="adj1" fmla="val 102615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85B3056F-2B91-4BBF-8580-88507261EE32}"/>
              </a:ext>
            </a:extLst>
          </p:cNvPr>
          <p:cNvGrpSpPr/>
          <p:nvPr/>
        </p:nvGrpSpPr>
        <p:grpSpPr>
          <a:xfrm>
            <a:off x="5583636" y="3941482"/>
            <a:ext cx="1363862" cy="311560"/>
            <a:chOff x="6696666" y="3880469"/>
            <a:chExt cx="1907524" cy="311560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1EEEC336-CEE7-4BF8-9956-06C42C61CC91}"/>
                </a:ext>
              </a:extLst>
            </p:cNvPr>
            <p:cNvCxnSpPr>
              <a:cxnSpLocks/>
            </p:cNvCxnSpPr>
            <p:nvPr/>
          </p:nvCxnSpPr>
          <p:spPr>
            <a:xfrm>
              <a:off x="6764968" y="3880469"/>
              <a:ext cx="767559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DC88130-8D06-4CBA-A3E3-F31F66EE5ACF}"/>
                </a:ext>
              </a:extLst>
            </p:cNvPr>
            <p:cNvSpPr txBox="1"/>
            <p:nvPr/>
          </p:nvSpPr>
          <p:spPr>
            <a:xfrm>
              <a:off x="6696666" y="3915030"/>
              <a:ext cx="19075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U8 </a:t>
              </a:r>
              <a:r>
                <a:rPr lang="en-US" altLang="zh-TW" sz="1200" dirty="0" err="1"/>
                <a:t>lbp_array</a:t>
              </a:r>
              <a:r>
                <a:rPr lang="en-US" altLang="zh-TW" sz="1200" dirty="0"/>
                <a:t>[L,W]</a:t>
              </a:r>
              <a:endParaRPr lang="zh-TW" altLang="en-US" sz="12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CBCD9E4-A721-4F63-9355-40E114ECB8C0}"/>
              </a:ext>
            </a:extLst>
          </p:cNvPr>
          <p:cNvGrpSpPr/>
          <p:nvPr/>
        </p:nvGrpSpPr>
        <p:grpSpPr>
          <a:xfrm>
            <a:off x="10245807" y="3868894"/>
            <a:ext cx="330552" cy="519718"/>
            <a:chOff x="11394088" y="2274609"/>
            <a:chExt cx="330552" cy="519718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E6169CE9-8FAE-46AC-80BC-814ADB733D3C}"/>
                </a:ext>
              </a:extLst>
            </p:cNvPr>
            <p:cNvCxnSpPr>
              <a:cxnSpLocks/>
            </p:cNvCxnSpPr>
            <p:nvPr/>
          </p:nvCxnSpPr>
          <p:spPr>
            <a:xfrm>
              <a:off x="11394088" y="2291208"/>
              <a:ext cx="3305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7129F807-58F5-41E5-9DE5-01A62828B2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724640" y="2274609"/>
              <a:ext cx="0" cy="519718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Title 1">
            <a:extLst>
              <a:ext uri="{FF2B5EF4-FFF2-40B4-BE49-F238E27FC236}">
                <a16:creationId xmlns:a16="http://schemas.microsoft.com/office/drawing/2014/main" id="{09E024C2-5287-472F-9DB1-DB137478A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36"/>
            <a:ext cx="10515600" cy="1325563"/>
          </a:xfrm>
        </p:spPr>
        <p:txBody>
          <a:bodyPr/>
          <a:lstStyle/>
          <a:p>
            <a:r>
              <a:rPr lang="en-US" altLang="zh-TW" dirty="0"/>
              <a:t>Architecture Diagram</a:t>
            </a:r>
            <a:endParaRPr lang="zh-TW" altLang="en-US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B508BFA8-D5BC-4F31-AF35-01DF5F984D52}"/>
              </a:ext>
            </a:extLst>
          </p:cNvPr>
          <p:cNvSpPr/>
          <p:nvPr/>
        </p:nvSpPr>
        <p:spPr>
          <a:xfrm>
            <a:off x="791348" y="2179864"/>
            <a:ext cx="1329265" cy="785552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Param Setting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4B19AD8C-231C-4DA2-890E-F7C3AA4619B1}"/>
              </a:ext>
            </a:extLst>
          </p:cNvPr>
          <p:cNvCxnSpPr>
            <a:cxnSpLocks/>
            <a:stCxn id="119" idx="3"/>
          </p:cNvCxnSpPr>
          <p:nvPr/>
        </p:nvCxnSpPr>
        <p:spPr>
          <a:xfrm>
            <a:off x="2120613" y="2572640"/>
            <a:ext cx="76214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4811C73-E04E-4711-A48C-675EB3340805}"/>
              </a:ext>
            </a:extLst>
          </p:cNvPr>
          <p:cNvSpPr/>
          <p:nvPr/>
        </p:nvSpPr>
        <p:spPr>
          <a:xfrm>
            <a:off x="4613160" y="3382775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/>
              <a:t>get_lbp_image</a:t>
            </a:r>
            <a:endParaRPr lang="en-US" altLang="zh-TW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D5C7866-46A2-40E5-A5B0-7E7CEBE3CFD8}"/>
              </a:ext>
            </a:extLst>
          </p:cNvPr>
          <p:cNvSpPr/>
          <p:nvPr/>
        </p:nvSpPr>
        <p:spPr>
          <a:xfrm>
            <a:off x="7808781" y="3365495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compute_lbp_histogram</a:t>
            </a:r>
            <a:endParaRPr lang="en-US" altLang="zh-TW" sz="1400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25E3AEE-CDBF-41A9-A60F-E9C1652A411C}"/>
              </a:ext>
            </a:extLst>
          </p:cNvPr>
          <p:cNvSpPr/>
          <p:nvPr/>
        </p:nvSpPr>
        <p:spPr>
          <a:xfrm>
            <a:off x="1455981" y="3347252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Grayscale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7C600345-85C0-4870-BC4A-CA28930D7DF7}"/>
              </a:ext>
            </a:extLst>
          </p:cNvPr>
          <p:cNvGrpSpPr/>
          <p:nvPr/>
        </p:nvGrpSpPr>
        <p:grpSpPr>
          <a:xfrm>
            <a:off x="594455" y="3900161"/>
            <a:ext cx="1242866" cy="388718"/>
            <a:chOff x="1141084" y="3260412"/>
            <a:chExt cx="1242866" cy="388718"/>
          </a:xfrm>
        </p:grpSpPr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1FAD3C41-3C7A-47FE-BA32-B543C28ED438}"/>
                </a:ext>
              </a:extLst>
            </p:cNvPr>
            <p:cNvCxnSpPr>
              <a:cxnSpLocks/>
            </p:cNvCxnSpPr>
            <p:nvPr/>
          </p:nvCxnSpPr>
          <p:spPr>
            <a:xfrm>
              <a:off x="1365251" y="3260412"/>
              <a:ext cx="645966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E9FB731-BCD6-452F-B4E0-306859D2F2B7}"/>
                </a:ext>
              </a:extLst>
            </p:cNvPr>
            <p:cNvSpPr txBox="1"/>
            <p:nvPr/>
          </p:nvSpPr>
          <p:spPr>
            <a:xfrm>
              <a:off x="1141084" y="3372131"/>
              <a:ext cx="12428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Input Image[L,W]</a:t>
              </a:r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C405CFCA-8A75-481A-8312-1A2B1EB3A6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8572" y="3062813"/>
            <a:ext cx="504305" cy="514187"/>
          </a:xfrm>
          <a:prstGeom prst="rect">
            <a:avLst/>
          </a:prstGeom>
        </p:spPr>
      </p:pic>
      <p:sp>
        <p:nvSpPr>
          <p:cNvPr id="90" name="Rectangle 89">
            <a:extLst>
              <a:ext uri="{FF2B5EF4-FFF2-40B4-BE49-F238E27FC236}">
                <a16:creationId xmlns:a16="http://schemas.microsoft.com/office/drawing/2014/main" id="{F04858BB-F09D-4915-BF7D-0050E7F5DAB8}"/>
              </a:ext>
            </a:extLst>
          </p:cNvPr>
          <p:cNvSpPr/>
          <p:nvPr/>
        </p:nvSpPr>
        <p:spPr>
          <a:xfrm>
            <a:off x="9242186" y="3347738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/>
              <a:t>get_top_n_modes</a:t>
            </a:r>
            <a:endParaRPr lang="en-US" altLang="zh-TW" sz="1400" dirty="0"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8757C6DC-6232-4732-88F8-4CD29A76468D}"/>
              </a:ext>
            </a:extLst>
          </p:cNvPr>
          <p:cNvGrpSpPr/>
          <p:nvPr/>
        </p:nvGrpSpPr>
        <p:grpSpPr>
          <a:xfrm>
            <a:off x="8640733" y="3918871"/>
            <a:ext cx="1242866" cy="317819"/>
            <a:chOff x="5719818" y="3295474"/>
            <a:chExt cx="1761518" cy="317819"/>
          </a:xfrm>
        </p:grpSpPr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A2806BB6-4B0E-4020-BAF1-3F3749914BE3}"/>
                </a:ext>
              </a:extLst>
            </p:cNvPr>
            <p:cNvCxnSpPr>
              <a:cxnSpLocks/>
            </p:cNvCxnSpPr>
            <p:nvPr/>
          </p:nvCxnSpPr>
          <p:spPr>
            <a:xfrm>
              <a:off x="5965664" y="3295474"/>
              <a:ext cx="60659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1A765B98-DBBF-40D6-83CF-1515FBB45682}"/>
                </a:ext>
              </a:extLst>
            </p:cNvPr>
            <p:cNvSpPr txBox="1"/>
            <p:nvPr/>
          </p:nvSpPr>
          <p:spPr>
            <a:xfrm>
              <a:off x="5719818" y="3336294"/>
              <a:ext cx="176151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U8 </a:t>
              </a:r>
              <a:r>
                <a:rPr lang="en-US" altLang="zh-TW" sz="1200" dirty="0" err="1"/>
                <a:t>lbp_hist</a:t>
              </a:r>
              <a:r>
                <a:rPr lang="en-US" altLang="zh-TW" sz="1200" dirty="0"/>
                <a:t>[256]</a:t>
              </a:r>
              <a:endParaRPr lang="zh-TW" altLang="en-US" sz="1200" dirty="0"/>
            </a:p>
          </p:txBody>
        </p:sp>
      </p:grpSp>
      <p:pic>
        <p:nvPicPr>
          <p:cNvPr id="99" name="Picture 98">
            <a:extLst>
              <a:ext uri="{FF2B5EF4-FFF2-40B4-BE49-F238E27FC236}">
                <a16:creationId xmlns:a16="http://schemas.microsoft.com/office/drawing/2014/main" id="{6F2A150D-E5E3-4D58-AA8B-58A89CD7D3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6661" y="3150758"/>
            <a:ext cx="327170" cy="435771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40B8F33B-5743-4E49-B69D-C92AC0B0BA17}"/>
              </a:ext>
            </a:extLst>
          </p:cNvPr>
          <p:cNvSpPr txBox="1"/>
          <p:nvPr/>
        </p:nvSpPr>
        <p:spPr>
          <a:xfrm>
            <a:off x="8813484" y="2921846"/>
            <a:ext cx="309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N</a:t>
            </a:r>
            <a:endParaRPr lang="zh-TW" altLang="en-US" sz="1200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C306A6F-81E6-475A-8B05-668FB7729C87}"/>
              </a:ext>
            </a:extLst>
          </p:cNvPr>
          <p:cNvSpPr txBox="1"/>
          <p:nvPr/>
        </p:nvSpPr>
        <p:spPr>
          <a:xfrm>
            <a:off x="206188" y="5014032"/>
            <a:ext cx="1635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U8 Array top_n_indices1[N,2]</a:t>
            </a:r>
            <a:endParaRPr lang="zh-TW" altLang="en-US" sz="1200" dirty="0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E2A9BC29-0B33-4266-8BBA-C6204FA5AF57}"/>
              </a:ext>
            </a:extLst>
          </p:cNvPr>
          <p:cNvSpPr/>
          <p:nvPr/>
        </p:nvSpPr>
        <p:spPr>
          <a:xfrm>
            <a:off x="4016775" y="4617223"/>
            <a:ext cx="1241024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dist_compare</a:t>
            </a:r>
            <a:endParaRPr lang="en-US" altLang="zh-TW" sz="1400" dirty="0"/>
          </a:p>
        </p:txBody>
      </p:sp>
      <p:pic>
        <p:nvPicPr>
          <p:cNvPr id="179" name="Picture 178">
            <a:extLst>
              <a:ext uri="{FF2B5EF4-FFF2-40B4-BE49-F238E27FC236}">
                <a16:creationId xmlns:a16="http://schemas.microsoft.com/office/drawing/2014/main" id="{C4480E10-5F35-4D14-AF49-D5459AB5B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307" y="4638097"/>
            <a:ext cx="553507" cy="280440"/>
          </a:xfrm>
          <a:prstGeom prst="rect">
            <a:avLst/>
          </a:prstGeom>
        </p:spPr>
      </p:pic>
      <p:sp>
        <p:nvSpPr>
          <p:cNvPr id="180" name="TextBox 179">
            <a:extLst>
              <a:ext uri="{FF2B5EF4-FFF2-40B4-BE49-F238E27FC236}">
                <a16:creationId xmlns:a16="http://schemas.microsoft.com/office/drawing/2014/main" id="{664B917D-5DFC-471E-9657-1DDFB7F7057D}"/>
              </a:ext>
            </a:extLst>
          </p:cNvPr>
          <p:cNvSpPr txBox="1"/>
          <p:nvPr/>
        </p:nvSpPr>
        <p:spPr>
          <a:xfrm>
            <a:off x="3196626" y="4392157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Threshold</a:t>
            </a:r>
            <a:endParaRPr lang="zh-TW" altLang="en-US" sz="1200" dirty="0"/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CC28693B-B9A0-49C5-A3C7-82F42028DF9E}"/>
              </a:ext>
            </a:extLst>
          </p:cNvPr>
          <p:cNvCxnSpPr>
            <a:cxnSpLocks/>
          </p:cNvCxnSpPr>
          <p:nvPr/>
        </p:nvCxnSpPr>
        <p:spPr>
          <a:xfrm>
            <a:off x="5257799" y="5094283"/>
            <a:ext cx="487830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5859EAF4-54BB-43AC-A946-21AE89C2444C}"/>
              </a:ext>
            </a:extLst>
          </p:cNvPr>
          <p:cNvSpPr txBox="1"/>
          <p:nvPr/>
        </p:nvSpPr>
        <p:spPr>
          <a:xfrm>
            <a:off x="5280816" y="4822131"/>
            <a:ext cx="19329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U8 Image Result Mask[L,W]</a:t>
            </a:r>
            <a:endParaRPr lang="zh-TW" altLang="en-US" sz="1200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B47365E-C99D-449D-A029-8F0283EB4825}"/>
              </a:ext>
            </a:extLst>
          </p:cNvPr>
          <p:cNvGrpSpPr/>
          <p:nvPr/>
        </p:nvGrpSpPr>
        <p:grpSpPr>
          <a:xfrm>
            <a:off x="143435" y="4478723"/>
            <a:ext cx="1697991" cy="461665"/>
            <a:chOff x="690064" y="2977373"/>
            <a:chExt cx="1697991" cy="461665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28B385F-77CB-4067-94E0-6E471A886CCD}"/>
                </a:ext>
              </a:extLst>
            </p:cNvPr>
            <p:cNvSpPr txBox="1"/>
            <p:nvPr/>
          </p:nvSpPr>
          <p:spPr>
            <a:xfrm>
              <a:off x="690064" y="2977373"/>
              <a:ext cx="16979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U8 Array top_n_indices2[N,2]</a:t>
              </a:r>
              <a:endParaRPr lang="zh-TW" altLang="en-US" sz="1200" dirty="0"/>
            </a:p>
          </p:txBody>
        </p: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464E4C5B-0805-42D3-9F1E-6BA55C2359E4}"/>
                </a:ext>
              </a:extLst>
            </p:cNvPr>
            <p:cNvCxnSpPr>
              <a:cxnSpLocks/>
            </p:cNvCxnSpPr>
            <p:nvPr/>
          </p:nvCxnSpPr>
          <p:spPr>
            <a:xfrm>
              <a:off x="1365251" y="3260412"/>
              <a:ext cx="1016346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64797A23-A403-41C3-BA47-DE5E1E794CC2}"/>
              </a:ext>
            </a:extLst>
          </p:cNvPr>
          <p:cNvSpPr txBox="1"/>
          <p:nvPr/>
        </p:nvSpPr>
        <p:spPr>
          <a:xfrm>
            <a:off x="6001551" y="3121857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err="1"/>
              <a:t>bfs_stride</a:t>
            </a:r>
            <a:endParaRPr lang="zh-TW" altLang="en-US" sz="12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B5074B-355C-4979-8C53-7E82AC937E82}"/>
              </a:ext>
            </a:extLst>
          </p:cNvPr>
          <p:cNvSpPr txBox="1"/>
          <p:nvPr/>
        </p:nvSpPr>
        <p:spPr>
          <a:xfrm>
            <a:off x="5801539" y="2958225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err="1"/>
              <a:t>kernel_center</a:t>
            </a:r>
            <a:endParaRPr lang="zh-TW" altLang="en-US" sz="1200" dirty="0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2DF51A17-6B7D-42EC-AB8F-9EC4EF91E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169" y="3291930"/>
            <a:ext cx="218767" cy="48957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BB596135-98AF-4D4C-A7DE-04D808F8D609}"/>
              </a:ext>
            </a:extLst>
          </p:cNvPr>
          <p:cNvSpPr txBox="1"/>
          <p:nvPr/>
        </p:nvSpPr>
        <p:spPr>
          <a:xfrm>
            <a:off x="7389239" y="2941529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 err="1"/>
              <a:t>lbp_kernel_size</a:t>
            </a:r>
            <a:endParaRPr lang="zh-TW" altLang="en-US" sz="12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DDE5289-4F49-43B6-AD06-B7A85846A075}"/>
              </a:ext>
            </a:extLst>
          </p:cNvPr>
          <p:cNvSpPr txBox="1"/>
          <p:nvPr/>
        </p:nvSpPr>
        <p:spPr>
          <a:xfrm>
            <a:off x="7553284" y="3127870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/>
              <a:t>lbp_kernel_center</a:t>
            </a:r>
            <a:endParaRPr lang="zh-TW" altLang="en-US" sz="1200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91B3F784-1DCF-4AB7-9A5D-E74AA4F78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1149" y="3202055"/>
            <a:ext cx="366544" cy="489572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6B7896A0-1F47-41CC-B2B3-EE04A4B2D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8925" y="3318708"/>
            <a:ext cx="218767" cy="48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049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891B-F272-4498-BEBE-DE4BC2C6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zh-TW" dirty="0"/>
              <a:t>API structure</a:t>
            </a:r>
            <a:endParaRPr lang="zh-TW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AB92C2-B7FD-4C97-80EC-B8EBC7A48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012" y="1009837"/>
            <a:ext cx="1168997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800" dirty="0" err="1"/>
              <a:t>Gray_img</a:t>
            </a:r>
            <a:r>
              <a:rPr lang="en-US" altLang="zh-TW" sz="1800" dirty="0"/>
              <a:t> = Grayscale(</a:t>
            </a:r>
            <a:r>
              <a:rPr lang="en-US" altLang="zh-TW" sz="1800" dirty="0" err="1"/>
              <a:t>Source_img</a:t>
            </a:r>
            <a:r>
              <a:rPr lang="en-US" altLang="zh-TW" sz="1800" dirty="0"/>
              <a:t>)</a:t>
            </a:r>
          </a:p>
          <a:p>
            <a:pPr marL="0" indent="0">
              <a:buNone/>
            </a:pPr>
            <a:r>
              <a:rPr lang="en-US" altLang="zh-TW" sz="1800" dirty="0" err="1"/>
              <a:t>Sobel_img</a:t>
            </a:r>
            <a:r>
              <a:rPr lang="en-US" altLang="zh-TW" sz="1800" dirty="0"/>
              <a:t> = Sobel(</a:t>
            </a:r>
            <a:r>
              <a:rPr lang="en-US" altLang="zh-TW" sz="1800" dirty="0" err="1"/>
              <a:t>Gray_img</a:t>
            </a:r>
            <a:r>
              <a:rPr lang="en-US" altLang="zh-TW" sz="1800" dirty="0"/>
              <a:t>, </a:t>
            </a:r>
            <a:r>
              <a:rPr lang="en-US" altLang="zh-TW" sz="1800" dirty="0" err="1"/>
              <a:t>Sobel_kernel_size</a:t>
            </a:r>
            <a:r>
              <a:rPr lang="en-US" altLang="zh-TW" sz="1800" dirty="0"/>
              <a:t>)</a:t>
            </a:r>
          </a:p>
          <a:p>
            <a:pPr marL="0" indent="0">
              <a:buNone/>
            </a:pPr>
            <a:r>
              <a:rPr lang="en-US" altLang="zh-TW" sz="1800" dirty="0"/>
              <a:t>bool[n] </a:t>
            </a:r>
            <a:r>
              <a:rPr lang="en-US" altLang="zh-TW" sz="1800" dirty="0" err="1"/>
              <a:t>is_road_array</a:t>
            </a:r>
            <a:endParaRPr lang="en-US" altLang="zh-TW" sz="1800" dirty="0"/>
          </a:p>
          <a:p>
            <a:pPr marL="0" indent="0">
              <a:buNone/>
            </a:pPr>
            <a:r>
              <a:rPr lang="en-US" altLang="zh-TW" sz="1800" dirty="0" err="1"/>
              <a:t>center_x</a:t>
            </a:r>
            <a:r>
              <a:rPr lang="en-US" altLang="zh-TW" sz="1800" dirty="0"/>
              <a:t>, </a:t>
            </a:r>
            <a:r>
              <a:rPr lang="en-US" altLang="zh-TW" sz="1800" dirty="0" err="1"/>
              <a:t>center_y</a:t>
            </a:r>
            <a:r>
              <a:rPr lang="en-US" altLang="zh-TW" sz="1800" dirty="0"/>
              <a:t>  // Kernel center point coordinate)</a:t>
            </a:r>
          </a:p>
          <a:p>
            <a:pPr marL="0" indent="0">
              <a:buNone/>
            </a:pPr>
            <a:r>
              <a:rPr lang="en-US" altLang="zh-TW" sz="1800" dirty="0"/>
              <a:t>While (</a:t>
            </a:r>
            <a:r>
              <a:rPr lang="en-US" altLang="zh-TW" sz="1800" dirty="0" err="1"/>
              <a:t>is_road_array</a:t>
            </a:r>
            <a:r>
              <a:rPr lang="en-US" altLang="zh-TW" sz="1800" dirty="0"/>
              <a:t> mapped to u16) is True:</a:t>
            </a:r>
          </a:p>
          <a:p>
            <a:pPr marL="0" indent="0">
              <a:buNone/>
            </a:pPr>
            <a:r>
              <a:rPr lang="en-US" altLang="zh-TW" sz="1800" dirty="0"/>
              <a:t>	kernel = </a:t>
            </a:r>
            <a:r>
              <a:rPr lang="en-US" altLang="zh-TW" sz="1800" dirty="0" err="1"/>
              <a:t>Get_kernel</a:t>
            </a:r>
            <a:r>
              <a:rPr lang="en-US" altLang="zh-TW" sz="1800" dirty="0"/>
              <a:t>(Sobel, k=</a:t>
            </a:r>
            <a:r>
              <a:rPr lang="en-US" altLang="zh-TW" sz="1800" dirty="0" err="1"/>
              <a:t>BFS_kernel_size</a:t>
            </a:r>
            <a:r>
              <a:rPr lang="en-US" altLang="zh-TW" sz="1800" dirty="0"/>
              <a:t>, c=[last index, middle index])</a:t>
            </a:r>
          </a:p>
          <a:p>
            <a:pPr marL="0" indent="0">
              <a:buNone/>
            </a:pPr>
            <a:r>
              <a:rPr lang="en-US" altLang="zh-TW" sz="1800" dirty="0"/>
              <a:t>	</a:t>
            </a:r>
            <a:r>
              <a:rPr lang="en-US" altLang="zh-TW" sz="1800" dirty="0" err="1"/>
              <a:t>kernel_arr</a:t>
            </a:r>
            <a:r>
              <a:rPr lang="en-US" altLang="zh-TW" sz="1800" dirty="0"/>
              <a:t> = </a:t>
            </a:r>
            <a:r>
              <a:rPr lang="en-US" altLang="zh-TW" sz="1800" dirty="0" err="1"/>
              <a:t>kernel.Kernel_Array</a:t>
            </a:r>
            <a:endParaRPr lang="en-US" altLang="zh-TW" sz="1800" dirty="0"/>
          </a:p>
          <a:p>
            <a:pPr marL="0" indent="0">
              <a:buNone/>
            </a:pPr>
            <a:r>
              <a:rPr lang="en-US" altLang="zh-TW" sz="18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652483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891B-F272-4498-BEBE-DE4BC2C6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zh-TW" dirty="0"/>
              <a:t>API structure</a:t>
            </a:r>
            <a:endParaRPr lang="zh-TW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AB92C2-B7FD-4C97-80EC-B8EBC7A48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012" y="1009837"/>
            <a:ext cx="11689976" cy="4351338"/>
          </a:xfrm>
        </p:spPr>
        <p:txBody>
          <a:bodyPr/>
          <a:lstStyle/>
          <a:p>
            <a:r>
              <a:rPr lang="en-US" altLang="zh-TW" dirty="0" err="1"/>
              <a:t>Get_kernel</a:t>
            </a:r>
            <a:endParaRPr lang="en-US" altLang="zh-TW" dirty="0"/>
          </a:p>
          <a:p>
            <a:pPr lvl="1"/>
            <a:r>
              <a:rPr lang="en-US" altLang="zh-TW" dirty="0"/>
              <a:t>Input: (u8 array) </a:t>
            </a:r>
            <a:r>
              <a:rPr lang="en-US" altLang="zh-TW" dirty="0" err="1"/>
              <a:t>Sobel_Image</a:t>
            </a:r>
            <a:endParaRPr lang="en-US" altLang="zh-TW" dirty="0"/>
          </a:p>
          <a:p>
            <a:pPr lvl="1"/>
            <a:r>
              <a:rPr lang="en-US" altLang="zh-TW" dirty="0"/>
              <a:t>Output: (Struct or Object) Kernel:</a:t>
            </a:r>
          </a:p>
          <a:p>
            <a:pPr lvl="2"/>
            <a:r>
              <a:rPr lang="en-US" altLang="zh-TW" dirty="0"/>
              <a:t>(u8 array[</a:t>
            </a:r>
            <a:r>
              <a:rPr lang="en-US" altLang="zh-TW" dirty="0" err="1"/>
              <a:t>k,k</a:t>
            </a:r>
            <a:r>
              <a:rPr lang="en-US" altLang="zh-TW" dirty="0"/>
              <a:t>]) </a:t>
            </a:r>
            <a:r>
              <a:rPr lang="en-US" altLang="zh-TW" dirty="0" err="1"/>
              <a:t>Kernel_Array</a:t>
            </a:r>
            <a:endParaRPr lang="en-US" altLang="zh-TW" dirty="0"/>
          </a:p>
          <a:p>
            <a:pPr lvl="2"/>
            <a:r>
              <a:rPr lang="en-US" altLang="zh-TW" dirty="0"/>
              <a:t>(u8) </a:t>
            </a:r>
            <a:r>
              <a:rPr lang="en-US" altLang="zh-TW" dirty="0" err="1"/>
              <a:t>start_x</a:t>
            </a:r>
            <a:endParaRPr lang="en-US" altLang="zh-TW" dirty="0"/>
          </a:p>
          <a:p>
            <a:pPr lvl="2"/>
            <a:r>
              <a:rPr lang="en-US" altLang="zh-TW" dirty="0"/>
              <a:t>(u8) </a:t>
            </a:r>
            <a:r>
              <a:rPr lang="en-US" altLang="zh-TW" dirty="0" err="1"/>
              <a:t>start_y</a:t>
            </a:r>
            <a:endParaRPr lang="en-US" altLang="zh-TW" dirty="0"/>
          </a:p>
          <a:p>
            <a:pPr lvl="2"/>
            <a:r>
              <a:rPr lang="en-US" altLang="zh-TW" dirty="0"/>
              <a:t>(u8) </a:t>
            </a:r>
            <a:r>
              <a:rPr lang="en-US" altLang="zh-TW" dirty="0" err="1"/>
              <a:t>end_x</a:t>
            </a:r>
            <a:endParaRPr lang="en-US" altLang="zh-TW" dirty="0"/>
          </a:p>
          <a:p>
            <a:pPr lvl="2"/>
            <a:r>
              <a:rPr lang="en-US" altLang="zh-TW" dirty="0"/>
              <a:t>(u8) </a:t>
            </a:r>
            <a:r>
              <a:rPr lang="en-US" altLang="zh-TW" dirty="0" err="1"/>
              <a:t>end_y</a:t>
            </a:r>
            <a:endParaRPr lang="en-US" altLang="zh-TW" dirty="0"/>
          </a:p>
          <a:p>
            <a:pPr lvl="1"/>
            <a:r>
              <a:rPr lang="en-US" altLang="zh-TW" dirty="0"/>
              <a:t>Parameters: (u8) Kernel Size (k), (u8) Kernel Center[X,Y] (c[2])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892B65-2F8B-4E53-807E-272D24ED76DB}"/>
              </a:ext>
            </a:extLst>
          </p:cNvPr>
          <p:cNvSpPr txBox="1"/>
          <p:nvPr/>
        </p:nvSpPr>
        <p:spPr>
          <a:xfrm>
            <a:off x="1752600" y="45365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Pseudocode: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86A960A-2CBA-427B-8384-9162E47BB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5031270"/>
            <a:ext cx="7607361" cy="1321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61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891B-F272-4498-BEBE-DE4BC2C6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zh-TW" dirty="0"/>
              <a:t>API structure</a:t>
            </a:r>
            <a:endParaRPr lang="zh-TW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AB92C2-B7FD-4C97-80EC-B8EBC7A48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6781"/>
            <a:ext cx="10515600" cy="4351338"/>
          </a:xfrm>
        </p:spPr>
        <p:txBody>
          <a:bodyPr/>
          <a:lstStyle/>
          <a:p>
            <a:r>
              <a:rPr lang="en-US" altLang="zh-TW" dirty="0" err="1"/>
              <a:t>Get_LBP</a:t>
            </a:r>
            <a:endParaRPr lang="en-US" altLang="zh-TW" dirty="0"/>
          </a:p>
          <a:p>
            <a:pPr lvl="1"/>
            <a:r>
              <a:rPr lang="en-US" altLang="zh-TW" dirty="0"/>
              <a:t>Input: (u8 array[</a:t>
            </a:r>
            <a:r>
              <a:rPr lang="en-US" altLang="zh-TW" dirty="0" err="1"/>
              <a:t>k,k</a:t>
            </a:r>
            <a:r>
              <a:rPr lang="en-US" altLang="zh-TW" dirty="0"/>
              <a:t>]) </a:t>
            </a:r>
            <a:r>
              <a:rPr lang="en-US" altLang="zh-TW" dirty="0" err="1"/>
              <a:t>Kernel_Array</a:t>
            </a:r>
            <a:endParaRPr lang="en-US" altLang="zh-TW" dirty="0"/>
          </a:p>
          <a:p>
            <a:pPr lvl="1"/>
            <a:r>
              <a:rPr lang="en-US" altLang="zh-TW" dirty="0"/>
              <a:t>Output: (u8 array[256]) </a:t>
            </a:r>
            <a:r>
              <a:rPr lang="en-US" altLang="zh-TW" dirty="0" err="1"/>
              <a:t>LBP_Histogram</a:t>
            </a:r>
            <a:endParaRPr lang="en-US" altLang="zh-TW" dirty="0"/>
          </a:p>
          <a:p>
            <a:pPr lvl="1"/>
            <a:r>
              <a:rPr lang="en-US" altLang="zh-TW" dirty="0"/>
              <a:t>Parameters: (u8) radius</a:t>
            </a:r>
          </a:p>
          <a:p>
            <a:pPr lvl="2"/>
            <a:endParaRPr lang="en-US" altLang="zh-TW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0A3BD-184B-45C7-8DB5-98E6D350FD77}"/>
              </a:ext>
            </a:extLst>
          </p:cNvPr>
          <p:cNvSpPr txBox="1"/>
          <p:nvPr/>
        </p:nvSpPr>
        <p:spPr>
          <a:xfrm>
            <a:off x="1264024" y="2919284"/>
            <a:ext cx="77275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Pseudocode:</a:t>
            </a:r>
          </a:p>
          <a:p>
            <a:endParaRPr lang="en-US" altLang="zh-TW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DC238F-305C-49AC-9FF9-7E89AEF894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24" y="3242449"/>
            <a:ext cx="5773270" cy="350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432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891B-F272-4498-BEBE-DE4BC2C6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zh-TW" dirty="0"/>
              <a:t>API structure</a:t>
            </a:r>
            <a:endParaRPr lang="zh-TW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AB92C2-B7FD-4C97-80EC-B8EBC7A48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6782"/>
            <a:ext cx="10515600" cy="1766066"/>
          </a:xfrm>
        </p:spPr>
        <p:txBody>
          <a:bodyPr>
            <a:normAutofit/>
          </a:bodyPr>
          <a:lstStyle/>
          <a:p>
            <a:r>
              <a:rPr lang="en-US" altLang="zh-TW" dirty="0" err="1"/>
              <a:t>Add_to_histogram</a:t>
            </a:r>
            <a:endParaRPr lang="en-US" altLang="zh-TW" dirty="0"/>
          </a:p>
          <a:p>
            <a:pPr lvl="1"/>
            <a:r>
              <a:rPr lang="en-US" altLang="zh-TW" dirty="0"/>
              <a:t>Input: (u8) </a:t>
            </a:r>
            <a:r>
              <a:rPr lang="en-US" altLang="zh-TW" dirty="0" err="1"/>
              <a:t>LBP_Value</a:t>
            </a:r>
            <a:r>
              <a:rPr lang="en-US" altLang="zh-TW" dirty="0"/>
              <a:t>, (u8[256]) </a:t>
            </a:r>
            <a:r>
              <a:rPr lang="en-US" altLang="zh-TW" dirty="0" err="1"/>
              <a:t>LBP_Hist</a:t>
            </a:r>
            <a:endParaRPr lang="en-US" altLang="zh-TW" dirty="0"/>
          </a:p>
          <a:p>
            <a:pPr lvl="1"/>
            <a:r>
              <a:rPr lang="en-US" altLang="zh-TW" dirty="0"/>
              <a:t>Output: None</a:t>
            </a:r>
          </a:p>
          <a:p>
            <a:pPr lvl="1"/>
            <a:r>
              <a:rPr lang="en-US" altLang="zh-TW" dirty="0"/>
              <a:t>Parameters: None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0A3BD-184B-45C7-8DB5-98E6D350FD77}"/>
              </a:ext>
            </a:extLst>
          </p:cNvPr>
          <p:cNvSpPr txBox="1"/>
          <p:nvPr/>
        </p:nvSpPr>
        <p:spPr>
          <a:xfrm>
            <a:off x="1264024" y="2718290"/>
            <a:ext cx="77275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Pseudocode:</a:t>
            </a:r>
          </a:p>
          <a:p>
            <a:endParaRPr lang="en-US" altLang="zh-TW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464B99-7A84-4056-B6A9-7F8DCED7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24" y="3044625"/>
            <a:ext cx="6858000" cy="5976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8EFF68E-E3B9-436B-ABCD-A0716BD76E59}"/>
              </a:ext>
            </a:extLst>
          </p:cNvPr>
          <p:cNvSpPr txBox="1">
            <a:spLocks/>
          </p:cNvSpPr>
          <p:nvPr/>
        </p:nvSpPr>
        <p:spPr>
          <a:xfrm>
            <a:off x="6096000" y="3642268"/>
            <a:ext cx="5689720" cy="1992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 err="1"/>
              <a:t>sort_N_max_hist</a:t>
            </a:r>
            <a:endParaRPr lang="en-US" altLang="zh-TW" dirty="0"/>
          </a:p>
          <a:p>
            <a:pPr lvl="1"/>
            <a:r>
              <a:rPr lang="en-US" altLang="zh-TW" dirty="0"/>
              <a:t>Input: (u8[256]) </a:t>
            </a:r>
            <a:r>
              <a:rPr lang="en-US" altLang="zh-TW" dirty="0" err="1"/>
              <a:t>LBP_Hist</a:t>
            </a:r>
            <a:endParaRPr lang="en-US" altLang="zh-TW" dirty="0"/>
          </a:p>
          <a:p>
            <a:pPr lvl="1"/>
            <a:r>
              <a:rPr lang="en-US" altLang="zh-TW" dirty="0"/>
              <a:t>Output: (u8) </a:t>
            </a:r>
            <a:r>
              <a:rPr lang="en-US" altLang="zh-TW" dirty="0" err="1"/>
              <a:t>LBP_Mode</a:t>
            </a:r>
            <a:r>
              <a:rPr lang="en-US" altLang="zh-TW" dirty="0"/>
              <a:t>[N,2]</a:t>
            </a:r>
          </a:p>
          <a:p>
            <a:pPr lvl="1"/>
            <a:r>
              <a:rPr lang="en-US" altLang="zh-TW" dirty="0"/>
              <a:t>Parameters: (u8)</a:t>
            </a:r>
            <a:r>
              <a:rPr lang="zh-TW" altLang="en-US" dirty="0"/>
              <a:t> </a:t>
            </a:r>
            <a:r>
              <a:rPr lang="en-US" altLang="zh-TW" dirty="0"/>
              <a:t>N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8AEF32-CA2F-4DEC-AC01-FE5B3824FB5D}"/>
              </a:ext>
            </a:extLst>
          </p:cNvPr>
          <p:cNvSpPr txBox="1"/>
          <p:nvPr/>
        </p:nvSpPr>
        <p:spPr>
          <a:xfrm>
            <a:off x="6521824" y="5221788"/>
            <a:ext cx="51787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Pseudocode:</a:t>
            </a:r>
          </a:p>
          <a:p>
            <a:endParaRPr lang="en-US" altLang="zh-TW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8F5085-969D-40AA-BF7B-B63B57E6E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824" y="5604793"/>
            <a:ext cx="5263896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354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891B-F272-4498-BEBE-DE4BC2C6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zh-TW" dirty="0"/>
              <a:t>API structure</a:t>
            </a:r>
            <a:endParaRPr lang="zh-TW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AB92C2-B7FD-4C97-80EC-B8EBC7A48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6782"/>
            <a:ext cx="10515600" cy="1766066"/>
          </a:xfrm>
        </p:spPr>
        <p:txBody>
          <a:bodyPr>
            <a:normAutofit/>
          </a:bodyPr>
          <a:lstStyle/>
          <a:p>
            <a:r>
              <a:rPr lang="en-US" altLang="zh-TW" dirty="0" err="1"/>
              <a:t>count_dist</a:t>
            </a:r>
            <a:endParaRPr lang="en-US" altLang="zh-TW" dirty="0"/>
          </a:p>
          <a:p>
            <a:pPr lvl="1"/>
            <a:r>
              <a:rPr lang="en-US" altLang="zh-TW" dirty="0"/>
              <a:t>Input: (u8) LBP_Mode_n0[N,2], (u8) LBP_Mode_n1[N,2]</a:t>
            </a:r>
          </a:p>
          <a:p>
            <a:pPr lvl="1"/>
            <a:r>
              <a:rPr lang="en-US" altLang="zh-TW" dirty="0"/>
              <a:t>Output: (u16) </a:t>
            </a:r>
            <a:r>
              <a:rPr lang="en-US" altLang="zh-TW" dirty="0" err="1"/>
              <a:t>dist</a:t>
            </a:r>
            <a:endParaRPr lang="en-US" altLang="zh-TW" dirty="0"/>
          </a:p>
          <a:p>
            <a:pPr lvl="1"/>
            <a:r>
              <a:rPr lang="en-US" altLang="zh-TW" dirty="0"/>
              <a:t>Parameters: None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0A3BD-184B-45C7-8DB5-98E6D350FD77}"/>
              </a:ext>
            </a:extLst>
          </p:cNvPr>
          <p:cNvSpPr txBox="1"/>
          <p:nvPr/>
        </p:nvSpPr>
        <p:spPr>
          <a:xfrm>
            <a:off x="1264024" y="2718290"/>
            <a:ext cx="77275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Pseudocode:</a:t>
            </a:r>
          </a:p>
          <a:p>
            <a:endParaRPr lang="en-US" altLang="zh-TW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9DAA39D-7EE9-4AC4-8D4E-4ACF7DC14E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24" y="3041454"/>
            <a:ext cx="8158534" cy="2247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137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2891B-F272-4498-BEBE-DE4BC2C6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altLang="zh-TW" dirty="0"/>
              <a:t>API structure</a:t>
            </a:r>
            <a:endParaRPr lang="zh-TW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AB92C2-B7FD-4C97-80EC-B8EBC7A48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518" y="1066782"/>
            <a:ext cx="11438964" cy="1766066"/>
          </a:xfrm>
        </p:spPr>
        <p:txBody>
          <a:bodyPr>
            <a:normAutofit/>
          </a:bodyPr>
          <a:lstStyle/>
          <a:p>
            <a:r>
              <a:rPr lang="en-US" altLang="zh-TW" dirty="0" err="1"/>
              <a:t>dist_compare</a:t>
            </a:r>
            <a:endParaRPr lang="en-US" altLang="zh-TW" dirty="0"/>
          </a:p>
          <a:p>
            <a:pPr lvl="1"/>
            <a:r>
              <a:rPr lang="en-US" altLang="zh-TW" dirty="0"/>
              <a:t>Input: (u16) </a:t>
            </a:r>
            <a:r>
              <a:rPr lang="en-US" altLang="zh-TW" dirty="0" err="1"/>
              <a:t>dist</a:t>
            </a:r>
            <a:r>
              <a:rPr lang="en-US" altLang="zh-TW" dirty="0"/>
              <a:t>, (u8) Mask[L,W], (u16) </a:t>
            </a:r>
            <a:r>
              <a:rPr lang="en-US" altLang="zh-TW" dirty="0" err="1"/>
              <a:t>isRoad</a:t>
            </a:r>
            <a:endParaRPr lang="en-US" altLang="zh-TW" dirty="0"/>
          </a:p>
          <a:p>
            <a:pPr lvl="1"/>
            <a:r>
              <a:rPr lang="en-US" altLang="zh-TW" dirty="0"/>
              <a:t>Output: (u16) </a:t>
            </a:r>
            <a:r>
              <a:rPr lang="en-US" altLang="zh-TW" dirty="0" err="1"/>
              <a:t>isRoad</a:t>
            </a:r>
            <a:endParaRPr lang="en-US" altLang="zh-TW" dirty="0"/>
          </a:p>
          <a:p>
            <a:pPr lvl="1"/>
            <a:r>
              <a:rPr lang="en-US" altLang="zh-TW" dirty="0"/>
              <a:t>Parameters: (u8) </a:t>
            </a:r>
            <a:r>
              <a:rPr lang="en-US" altLang="zh-TW" dirty="0" err="1"/>
              <a:t>start_x</a:t>
            </a:r>
            <a:r>
              <a:rPr lang="en-US" altLang="zh-TW" dirty="0"/>
              <a:t>, (u8) </a:t>
            </a:r>
            <a:r>
              <a:rPr lang="en-US" altLang="zh-TW" dirty="0" err="1"/>
              <a:t>start_y</a:t>
            </a:r>
            <a:r>
              <a:rPr lang="en-US" altLang="zh-TW" dirty="0"/>
              <a:t>, (u8) </a:t>
            </a:r>
            <a:r>
              <a:rPr lang="en-US" altLang="zh-TW" dirty="0" err="1"/>
              <a:t>end_x</a:t>
            </a:r>
            <a:r>
              <a:rPr lang="en-US" altLang="zh-TW" dirty="0"/>
              <a:t>, (u8) </a:t>
            </a:r>
            <a:r>
              <a:rPr lang="en-US" altLang="zh-TW" dirty="0" err="1"/>
              <a:t>end_y</a:t>
            </a:r>
            <a:r>
              <a:rPr lang="en-US" altLang="zh-TW" dirty="0"/>
              <a:t>, (u16) Threshold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0A3BD-184B-45C7-8DB5-98E6D350FD77}"/>
              </a:ext>
            </a:extLst>
          </p:cNvPr>
          <p:cNvSpPr txBox="1"/>
          <p:nvPr/>
        </p:nvSpPr>
        <p:spPr>
          <a:xfrm>
            <a:off x="1264024" y="2718290"/>
            <a:ext cx="77275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Pseudocode:</a:t>
            </a:r>
          </a:p>
          <a:p>
            <a:endParaRPr lang="en-US" altLang="zh-TW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A72012A-8C27-46CF-B1F0-77ACEE409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24" y="3041454"/>
            <a:ext cx="9264864" cy="2552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67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A5ECA-475E-49D9-9CA0-46D7F9AD0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142E28D-9E27-47FF-84B2-9704B42410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1380" y="1825625"/>
            <a:ext cx="8049240" cy="4351338"/>
          </a:xfrm>
        </p:spPr>
      </p:pic>
    </p:spTree>
    <p:extLst>
      <p:ext uri="{BB962C8B-B14F-4D97-AF65-F5344CB8AC3E}">
        <p14:creationId xmlns:p14="http://schemas.microsoft.com/office/powerpoint/2010/main" val="37797417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A553043-276B-4F30-AC63-A3C4D6F4EEC6}"/>
              </a:ext>
            </a:extLst>
          </p:cNvPr>
          <p:cNvSpPr/>
          <p:nvPr/>
        </p:nvSpPr>
        <p:spPr>
          <a:xfrm>
            <a:off x="2544103" y="3382775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Sobel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C53301-D70B-48E8-834C-CFC07477ACB7}"/>
              </a:ext>
            </a:extLst>
          </p:cNvPr>
          <p:cNvSpPr/>
          <p:nvPr/>
        </p:nvSpPr>
        <p:spPr>
          <a:xfrm>
            <a:off x="5869853" y="3382774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LBP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3A9EA6-FB28-4D69-9E87-D5F4FC2355AD}"/>
              </a:ext>
            </a:extLst>
          </p:cNvPr>
          <p:cNvSpPr/>
          <p:nvPr/>
        </p:nvSpPr>
        <p:spPr>
          <a:xfrm>
            <a:off x="1145065" y="4623433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count_dist</a:t>
            </a:r>
            <a:endParaRPr lang="en-US" altLang="zh-TW" sz="14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A2B030E-9FDB-4819-9689-A080918F9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477" y="3308753"/>
            <a:ext cx="359720" cy="28044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5C1262-2B06-4484-B773-8E7F91DC6B26}"/>
              </a:ext>
            </a:extLst>
          </p:cNvPr>
          <p:cNvSpPr txBox="1"/>
          <p:nvPr/>
        </p:nvSpPr>
        <p:spPr>
          <a:xfrm>
            <a:off x="2027841" y="3062813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Sobel Kernel Size</a:t>
            </a:r>
            <a:endParaRPr lang="zh-TW" altLang="en-US" sz="12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5C46C2-98B7-4E66-8366-3DE68ACEDF9D}"/>
              </a:ext>
            </a:extLst>
          </p:cNvPr>
          <p:cNvGrpSpPr/>
          <p:nvPr/>
        </p:nvGrpSpPr>
        <p:grpSpPr>
          <a:xfrm>
            <a:off x="1656111" y="3900161"/>
            <a:ext cx="1212517" cy="345062"/>
            <a:chOff x="741476" y="3260412"/>
            <a:chExt cx="1702263" cy="34506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07EDC-9401-4CAC-BA2D-87C6790E9880}"/>
                </a:ext>
              </a:extLst>
            </p:cNvPr>
            <p:cNvCxnSpPr>
              <a:cxnSpLocks/>
            </p:cNvCxnSpPr>
            <p:nvPr/>
          </p:nvCxnSpPr>
          <p:spPr>
            <a:xfrm>
              <a:off x="1422570" y="3260412"/>
              <a:ext cx="588648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C2BF97E-D781-4E87-BDB4-A89F7A66F029}"/>
                </a:ext>
              </a:extLst>
            </p:cNvPr>
            <p:cNvSpPr txBox="1"/>
            <p:nvPr/>
          </p:nvSpPr>
          <p:spPr>
            <a:xfrm>
              <a:off x="741476" y="3328475"/>
              <a:ext cx="17022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Grayscale Image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ECC5D85-43B1-4B6A-9FCE-5AE408C23E89}"/>
              </a:ext>
            </a:extLst>
          </p:cNvPr>
          <p:cNvGrpSpPr/>
          <p:nvPr/>
        </p:nvGrpSpPr>
        <p:grpSpPr>
          <a:xfrm>
            <a:off x="3452773" y="3935223"/>
            <a:ext cx="1051658" cy="296446"/>
            <a:chOff x="2676772" y="3295474"/>
            <a:chExt cx="1051658" cy="296446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D27FA63-F8F3-482A-B653-642080FE423B}"/>
                </a:ext>
              </a:extLst>
            </p:cNvPr>
            <p:cNvCxnSpPr>
              <a:cxnSpLocks/>
            </p:cNvCxnSpPr>
            <p:nvPr/>
          </p:nvCxnSpPr>
          <p:spPr>
            <a:xfrm>
              <a:off x="2777997" y="3295474"/>
              <a:ext cx="758703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592105E-F229-4296-A194-5FEB917B022A}"/>
                </a:ext>
              </a:extLst>
            </p:cNvPr>
            <p:cNvSpPr txBox="1"/>
            <p:nvPr/>
          </p:nvSpPr>
          <p:spPr>
            <a:xfrm>
              <a:off x="2676772" y="3314921"/>
              <a:ext cx="10516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Sobel Image</a:t>
              </a:r>
              <a:endParaRPr lang="zh-TW" altLang="en-US" sz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9DD6E50-714A-45F3-A2EE-DC355D652F4D}"/>
              </a:ext>
            </a:extLst>
          </p:cNvPr>
          <p:cNvGrpSpPr/>
          <p:nvPr/>
        </p:nvGrpSpPr>
        <p:grpSpPr>
          <a:xfrm>
            <a:off x="6846442" y="3935223"/>
            <a:ext cx="798737" cy="502485"/>
            <a:chOff x="5921053" y="3295474"/>
            <a:chExt cx="798737" cy="502485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EDA9F99-B45B-41D7-9A7A-2A76AD46BBC6}"/>
                </a:ext>
              </a:extLst>
            </p:cNvPr>
            <p:cNvCxnSpPr>
              <a:cxnSpLocks/>
            </p:cNvCxnSpPr>
            <p:nvPr/>
          </p:nvCxnSpPr>
          <p:spPr>
            <a:xfrm>
              <a:off x="5965664" y="3295474"/>
              <a:ext cx="60659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151ED0C-8E49-4CFA-9531-A2A841F4A31A}"/>
                </a:ext>
              </a:extLst>
            </p:cNvPr>
            <p:cNvSpPr txBox="1"/>
            <p:nvPr/>
          </p:nvSpPr>
          <p:spPr>
            <a:xfrm>
              <a:off x="5921053" y="3336294"/>
              <a:ext cx="79873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LBP Array [N,N]</a:t>
              </a:r>
              <a:endParaRPr lang="zh-TW" altLang="en-US" sz="1200" dirty="0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4A002C0-6EAA-45DE-9C35-041FBC062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597" y="3090455"/>
            <a:ext cx="756255" cy="514187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5593095-55CC-47C3-9B76-11A8FB97F450}"/>
              </a:ext>
            </a:extLst>
          </p:cNvPr>
          <p:cNvSpPr txBox="1"/>
          <p:nvPr/>
        </p:nvSpPr>
        <p:spPr>
          <a:xfrm>
            <a:off x="3485029" y="2828236"/>
            <a:ext cx="827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BFS Stride</a:t>
            </a:r>
            <a:endParaRPr lang="zh-TW" altLang="en-US" sz="1200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0F228E88-B8D6-414A-9401-82A445806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568" y="3229867"/>
            <a:ext cx="530397" cy="524301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E07E764-0263-41E8-B994-0B36A4B2E131}"/>
              </a:ext>
            </a:extLst>
          </p:cNvPr>
          <p:cNvSpPr txBox="1"/>
          <p:nvPr/>
        </p:nvSpPr>
        <p:spPr>
          <a:xfrm>
            <a:off x="3801568" y="3088496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Kernel</a:t>
            </a:r>
            <a:r>
              <a:rPr lang="zh-TW" altLang="en-US" sz="1200" dirty="0"/>
              <a:t> </a:t>
            </a:r>
            <a:r>
              <a:rPr lang="en-US" altLang="zh-TW" sz="1200" dirty="0"/>
              <a:t>Size N</a:t>
            </a:r>
            <a:endParaRPr lang="zh-TW" altLang="en-US" sz="1200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DB5E1072-8D26-4F98-A71F-2577C6CAB862}"/>
              </a:ext>
            </a:extLst>
          </p:cNvPr>
          <p:cNvCxnSpPr>
            <a:cxnSpLocks/>
            <a:endCxn id="8" idx="1"/>
          </p:cNvCxnSpPr>
          <p:nvPr/>
        </p:nvCxnSpPr>
        <p:spPr>
          <a:xfrm rot="10800000" flipV="1">
            <a:off x="1145065" y="4388613"/>
            <a:ext cx="10615248" cy="558820"/>
          </a:xfrm>
          <a:prstGeom prst="bentConnector3">
            <a:avLst>
              <a:gd name="adj1" fmla="val 102154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85B3056F-2B91-4BBF-8580-88507261EE32}"/>
              </a:ext>
            </a:extLst>
          </p:cNvPr>
          <p:cNvGrpSpPr/>
          <p:nvPr/>
        </p:nvGrpSpPr>
        <p:grpSpPr>
          <a:xfrm>
            <a:off x="5260908" y="3941482"/>
            <a:ext cx="956469" cy="311560"/>
            <a:chOff x="6696666" y="3880469"/>
            <a:chExt cx="1337736" cy="311560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1EEEC336-CEE7-4BF8-9956-06C42C61CC91}"/>
                </a:ext>
              </a:extLst>
            </p:cNvPr>
            <p:cNvCxnSpPr>
              <a:cxnSpLocks/>
            </p:cNvCxnSpPr>
            <p:nvPr/>
          </p:nvCxnSpPr>
          <p:spPr>
            <a:xfrm>
              <a:off x="6764968" y="3880469"/>
              <a:ext cx="767559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DC88130-8D06-4CBA-A3E3-F31F66EE5ACF}"/>
                </a:ext>
              </a:extLst>
            </p:cNvPr>
            <p:cNvSpPr txBox="1"/>
            <p:nvPr/>
          </p:nvSpPr>
          <p:spPr>
            <a:xfrm>
              <a:off x="6696666" y="3915030"/>
              <a:ext cx="13377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N x N matrices</a:t>
              </a:r>
              <a:endParaRPr lang="zh-TW" altLang="en-US" sz="12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CBCD9E4-A721-4F63-9355-40E114ECB8C0}"/>
              </a:ext>
            </a:extLst>
          </p:cNvPr>
          <p:cNvGrpSpPr/>
          <p:nvPr/>
        </p:nvGrpSpPr>
        <p:grpSpPr>
          <a:xfrm>
            <a:off x="11394088" y="3868894"/>
            <a:ext cx="330552" cy="519718"/>
            <a:chOff x="11394088" y="2274609"/>
            <a:chExt cx="330552" cy="519718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E6169CE9-8FAE-46AC-80BC-814ADB733D3C}"/>
                </a:ext>
              </a:extLst>
            </p:cNvPr>
            <p:cNvCxnSpPr>
              <a:cxnSpLocks/>
            </p:cNvCxnSpPr>
            <p:nvPr/>
          </p:nvCxnSpPr>
          <p:spPr>
            <a:xfrm>
              <a:off x="11394088" y="2291208"/>
              <a:ext cx="3305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7129F807-58F5-41E5-9DE5-01A62828B2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724640" y="2274609"/>
              <a:ext cx="0" cy="519718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Title 1">
            <a:extLst>
              <a:ext uri="{FF2B5EF4-FFF2-40B4-BE49-F238E27FC236}">
                <a16:creationId xmlns:a16="http://schemas.microsoft.com/office/drawing/2014/main" id="{09E024C2-5287-472F-9DB1-DB137478A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36"/>
            <a:ext cx="10515600" cy="1325563"/>
          </a:xfrm>
        </p:spPr>
        <p:txBody>
          <a:bodyPr/>
          <a:lstStyle/>
          <a:p>
            <a:r>
              <a:rPr lang="en-US" altLang="zh-TW" dirty="0"/>
              <a:t>Architecture Diagram</a:t>
            </a:r>
            <a:endParaRPr lang="zh-TW" altLang="en-US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B508BFA8-D5BC-4F31-AF35-01DF5F984D52}"/>
              </a:ext>
            </a:extLst>
          </p:cNvPr>
          <p:cNvSpPr/>
          <p:nvPr/>
        </p:nvSpPr>
        <p:spPr>
          <a:xfrm>
            <a:off x="468619" y="1732513"/>
            <a:ext cx="1329265" cy="785552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Param Setting</a:t>
            </a:r>
            <a:endParaRPr lang="en-US" altLang="zh-TW" dirty="0"/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4B19AD8C-231C-4DA2-890E-F7C3AA4619B1}"/>
              </a:ext>
            </a:extLst>
          </p:cNvPr>
          <p:cNvCxnSpPr>
            <a:cxnSpLocks/>
            <a:stCxn id="119" idx="3"/>
          </p:cNvCxnSpPr>
          <p:nvPr/>
        </p:nvCxnSpPr>
        <p:spPr>
          <a:xfrm>
            <a:off x="1797884" y="2125289"/>
            <a:ext cx="76214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4811C73-E04E-4711-A48C-675EB3340805}"/>
              </a:ext>
            </a:extLst>
          </p:cNvPr>
          <p:cNvSpPr/>
          <p:nvPr/>
        </p:nvSpPr>
        <p:spPr>
          <a:xfrm>
            <a:off x="4290431" y="3382775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BFS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D5C7866-46A2-40E5-A5B0-7E7CEBE3CFD8}"/>
              </a:ext>
            </a:extLst>
          </p:cNvPr>
          <p:cNvSpPr/>
          <p:nvPr/>
        </p:nvSpPr>
        <p:spPr>
          <a:xfrm>
            <a:off x="7486052" y="3365495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/>
              <a:t>Histogram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25E3AEE-CDBF-41A9-A60F-E9C1652A411C}"/>
              </a:ext>
            </a:extLst>
          </p:cNvPr>
          <p:cNvSpPr/>
          <p:nvPr/>
        </p:nvSpPr>
        <p:spPr>
          <a:xfrm>
            <a:off x="1133252" y="3347252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Grayscale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7C600345-85C0-4870-BC4A-CA28930D7DF7}"/>
              </a:ext>
            </a:extLst>
          </p:cNvPr>
          <p:cNvGrpSpPr/>
          <p:nvPr/>
        </p:nvGrpSpPr>
        <p:grpSpPr>
          <a:xfrm>
            <a:off x="271726" y="3900161"/>
            <a:ext cx="1242866" cy="388718"/>
            <a:chOff x="1141084" y="3260412"/>
            <a:chExt cx="1242866" cy="388718"/>
          </a:xfrm>
        </p:grpSpPr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1FAD3C41-3C7A-47FE-BA32-B543C28ED438}"/>
                </a:ext>
              </a:extLst>
            </p:cNvPr>
            <p:cNvCxnSpPr>
              <a:cxnSpLocks/>
            </p:cNvCxnSpPr>
            <p:nvPr/>
          </p:nvCxnSpPr>
          <p:spPr>
            <a:xfrm>
              <a:off x="1365251" y="3260412"/>
              <a:ext cx="645966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E9FB731-BCD6-452F-B4E0-306859D2F2B7}"/>
                </a:ext>
              </a:extLst>
            </p:cNvPr>
            <p:cNvSpPr txBox="1"/>
            <p:nvPr/>
          </p:nvSpPr>
          <p:spPr>
            <a:xfrm>
              <a:off x="1141084" y="3372131"/>
              <a:ext cx="12428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Input Image[L,W]</a:t>
              </a:r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C405CFCA-8A75-481A-8312-1A2B1EB3A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843" y="3062813"/>
            <a:ext cx="504305" cy="514187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D16232BC-4F8A-40FC-8D37-C4330A1840C3}"/>
              </a:ext>
            </a:extLst>
          </p:cNvPr>
          <p:cNvSpPr txBox="1"/>
          <p:nvPr/>
        </p:nvSpPr>
        <p:spPr>
          <a:xfrm>
            <a:off x="5254237" y="2810949"/>
            <a:ext cx="9564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LBP Kernel</a:t>
            </a:r>
            <a:endParaRPr lang="zh-TW" altLang="en-US" sz="1200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04858BB-F09D-4915-BF7D-0050E7F5DAB8}"/>
              </a:ext>
            </a:extLst>
          </p:cNvPr>
          <p:cNvSpPr/>
          <p:nvPr/>
        </p:nvSpPr>
        <p:spPr>
          <a:xfrm>
            <a:off x="8919457" y="3347738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sort_hist</a:t>
            </a:r>
            <a:endParaRPr lang="en-US" altLang="zh-TW" sz="1400" dirty="0"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8757C6DC-6232-4732-88F8-4CD29A76468D}"/>
              </a:ext>
            </a:extLst>
          </p:cNvPr>
          <p:cNvGrpSpPr/>
          <p:nvPr/>
        </p:nvGrpSpPr>
        <p:grpSpPr>
          <a:xfrm>
            <a:off x="8318005" y="3918871"/>
            <a:ext cx="798736" cy="317819"/>
            <a:chOff x="5719819" y="3295474"/>
            <a:chExt cx="1132051" cy="317819"/>
          </a:xfrm>
        </p:grpSpPr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A2806BB6-4B0E-4020-BAF1-3F3749914BE3}"/>
                </a:ext>
              </a:extLst>
            </p:cNvPr>
            <p:cNvCxnSpPr>
              <a:cxnSpLocks/>
            </p:cNvCxnSpPr>
            <p:nvPr/>
          </p:nvCxnSpPr>
          <p:spPr>
            <a:xfrm>
              <a:off x="5965664" y="3295474"/>
              <a:ext cx="60659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1A765B98-DBBF-40D6-83CF-1515FBB45682}"/>
                </a:ext>
              </a:extLst>
            </p:cNvPr>
            <p:cNvSpPr txBox="1"/>
            <p:nvPr/>
          </p:nvSpPr>
          <p:spPr>
            <a:xfrm>
              <a:off x="5719819" y="3336294"/>
              <a:ext cx="113205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Hist[256]</a:t>
              </a:r>
              <a:endParaRPr lang="zh-TW" altLang="en-US" sz="1200" dirty="0"/>
            </a:p>
          </p:txBody>
        </p:sp>
      </p:grpSp>
      <p:pic>
        <p:nvPicPr>
          <p:cNvPr id="99" name="Picture 98">
            <a:extLst>
              <a:ext uri="{FF2B5EF4-FFF2-40B4-BE49-F238E27FC236}">
                <a16:creationId xmlns:a16="http://schemas.microsoft.com/office/drawing/2014/main" id="{6F2A150D-E5E3-4D58-AA8B-58A89CD7D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9567" y="3127723"/>
            <a:ext cx="327170" cy="435771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40B8F33B-5743-4E49-B69D-C92AC0B0BA17}"/>
              </a:ext>
            </a:extLst>
          </p:cNvPr>
          <p:cNvSpPr txBox="1"/>
          <p:nvPr/>
        </p:nvSpPr>
        <p:spPr>
          <a:xfrm>
            <a:off x="9936390" y="2898811"/>
            <a:ext cx="309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N</a:t>
            </a:r>
            <a:endParaRPr lang="zh-TW" altLang="en-US" sz="1200" dirty="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2B65362-6A8D-4FFB-B3FB-C0D33A9902D3}"/>
              </a:ext>
            </a:extLst>
          </p:cNvPr>
          <p:cNvSpPr/>
          <p:nvPr/>
        </p:nvSpPr>
        <p:spPr>
          <a:xfrm>
            <a:off x="10345800" y="3347713"/>
            <a:ext cx="1008000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hist_top_n</a:t>
            </a:r>
            <a:endParaRPr lang="en-US" altLang="zh-TW" sz="1400" dirty="0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D9D084E-F27F-48F5-825D-5E24ABB20637}"/>
              </a:ext>
            </a:extLst>
          </p:cNvPr>
          <p:cNvGrpSpPr/>
          <p:nvPr/>
        </p:nvGrpSpPr>
        <p:grpSpPr>
          <a:xfrm>
            <a:off x="9753502" y="3895507"/>
            <a:ext cx="798736" cy="317819"/>
            <a:chOff x="5719819" y="3295474"/>
            <a:chExt cx="1132051" cy="317819"/>
          </a:xfrm>
        </p:grpSpPr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64DF7FEC-4D43-4FA2-88E9-23F6E04D19C8}"/>
                </a:ext>
              </a:extLst>
            </p:cNvPr>
            <p:cNvCxnSpPr>
              <a:cxnSpLocks/>
            </p:cNvCxnSpPr>
            <p:nvPr/>
          </p:nvCxnSpPr>
          <p:spPr>
            <a:xfrm>
              <a:off x="5965664" y="3295474"/>
              <a:ext cx="60659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839D49C-39B0-496A-B206-54F2E1D303D6}"/>
                </a:ext>
              </a:extLst>
            </p:cNvPr>
            <p:cNvSpPr txBox="1"/>
            <p:nvPr/>
          </p:nvSpPr>
          <p:spPr>
            <a:xfrm>
              <a:off x="5719819" y="3336294"/>
              <a:ext cx="113205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Hist[256]</a:t>
              </a:r>
              <a:endParaRPr lang="zh-TW" altLang="en-US" sz="1200" dirty="0"/>
            </a:p>
          </p:txBody>
        </p:sp>
      </p:grpSp>
      <p:sp>
        <p:nvSpPr>
          <p:cNvPr id="174" name="TextBox 173">
            <a:extLst>
              <a:ext uri="{FF2B5EF4-FFF2-40B4-BE49-F238E27FC236}">
                <a16:creationId xmlns:a16="http://schemas.microsoft.com/office/drawing/2014/main" id="{CC306A6F-81E6-475A-8B05-668FB7729C87}"/>
              </a:ext>
            </a:extLst>
          </p:cNvPr>
          <p:cNvSpPr txBox="1"/>
          <p:nvPr/>
        </p:nvSpPr>
        <p:spPr>
          <a:xfrm>
            <a:off x="54553" y="5014032"/>
            <a:ext cx="14645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LBP_Mode_n1[N,2]</a:t>
            </a:r>
            <a:endParaRPr lang="en-US" altLang="zh-TW" sz="1000" dirty="0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E2A9BC29-0B33-4266-8BBA-C6204FA5AF57}"/>
              </a:ext>
            </a:extLst>
          </p:cNvPr>
          <p:cNvSpPr/>
          <p:nvPr/>
        </p:nvSpPr>
        <p:spPr>
          <a:xfrm>
            <a:off x="2560544" y="4617223"/>
            <a:ext cx="1241024" cy="6480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dist_compare</a:t>
            </a:r>
            <a:endParaRPr lang="en-US" altLang="zh-TW" sz="1400" dirty="0"/>
          </a:p>
        </p:txBody>
      </p: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05EBFF9D-72C1-47AA-888D-75B7EEC014DC}"/>
              </a:ext>
            </a:extLst>
          </p:cNvPr>
          <p:cNvGrpSpPr/>
          <p:nvPr/>
        </p:nvGrpSpPr>
        <p:grpSpPr>
          <a:xfrm>
            <a:off x="2141252" y="5119744"/>
            <a:ext cx="635864" cy="309787"/>
            <a:chOff x="2775661" y="3295474"/>
            <a:chExt cx="635864" cy="309787"/>
          </a:xfrm>
        </p:grpSpPr>
        <p:cxnSp>
          <p:nvCxnSpPr>
            <p:cNvPr id="177" name="Straight Arrow Connector 176">
              <a:extLst>
                <a:ext uri="{FF2B5EF4-FFF2-40B4-BE49-F238E27FC236}">
                  <a16:creationId xmlns:a16="http://schemas.microsoft.com/office/drawing/2014/main" id="{F4E3F911-9686-4FB4-A4DF-D9AD2CAEA732}"/>
                </a:ext>
              </a:extLst>
            </p:cNvPr>
            <p:cNvCxnSpPr>
              <a:cxnSpLocks/>
            </p:cNvCxnSpPr>
            <p:nvPr/>
          </p:nvCxnSpPr>
          <p:spPr>
            <a:xfrm>
              <a:off x="2777997" y="3295474"/>
              <a:ext cx="40051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C00A7964-02A5-43F9-A7F9-9D81343FD27E}"/>
                </a:ext>
              </a:extLst>
            </p:cNvPr>
            <p:cNvSpPr txBox="1"/>
            <p:nvPr/>
          </p:nvSpPr>
          <p:spPr>
            <a:xfrm>
              <a:off x="2775661" y="3328262"/>
              <a:ext cx="6358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 err="1"/>
                <a:t>Dist</a:t>
              </a:r>
              <a:endParaRPr lang="zh-TW" altLang="en-US" sz="1200" dirty="0"/>
            </a:p>
          </p:txBody>
        </p:sp>
      </p:grpSp>
      <p:pic>
        <p:nvPicPr>
          <p:cNvPr id="179" name="Picture 178">
            <a:extLst>
              <a:ext uri="{FF2B5EF4-FFF2-40B4-BE49-F238E27FC236}">
                <a16:creationId xmlns:a16="http://schemas.microsoft.com/office/drawing/2014/main" id="{C4480E10-5F35-4D14-AF49-D5459AB5B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890" y="4638097"/>
            <a:ext cx="359720" cy="280440"/>
          </a:xfrm>
          <a:prstGeom prst="rect">
            <a:avLst/>
          </a:prstGeom>
        </p:spPr>
      </p:pic>
      <p:sp>
        <p:nvSpPr>
          <p:cNvPr id="180" name="TextBox 179">
            <a:extLst>
              <a:ext uri="{FF2B5EF4-FFF2-40B4-BE49-F238E27FC236}">
                <a16:creationId xmlns:a16="http://schemas.microsoft.com/office/drawing/2014/main" id="{664B917D-5DFC-471E-9657-1DDFB7F7057D}"/>
              </a:ext>
            </a:extLst>
          </p:cNvPr>
          <p:cNvSpPr txBox="1"/>
          <p:nvPr/>
        </p:nvSpPr>
        <p:spPr>
          <a:xfrm>
            <a:off x="2022254" y="4392157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Threshold</a:t>
            </a:r>
            <a:endParaRPr lang="zh-TW" altLang="en-US" sz="1200" dirty="0"/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CC28693B-B9A0-49C5-A3C7-82F42028DF9E}"/>
              </a:ext>
            </a:extLst>
          </p:cNvPr>
          <p:cNvCxnSpPr>
            <a:cxnSpLocks/>
          </p:cNvCxnSpPr>
          <p:nvPr/>
        </p:nvCxnSpPr>
        <p:spPr>
          <a:xfrm>
            <a:off x="3801568" y="5094283"/>
            <a:ext cx="724504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5859EAF4-54BB-43AC-A946-21AE89C2444C}"/>
              </a:ext>
            </a:extLst>
          </p:cNvPr>
          <p:cNvSpPr txBox="1"/>
          <p:nvPr/>
        </p:nvSpPr>
        <p:spPr>
          <a:xfrm>
            <a:off x="3819733" y="4822131"/>
            <a:ext cx="16361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Image Result Mask[L,W]</a:t>
            </a:r>
            <a:endParaRPr lang="zh-TW" altLang="en-US" sz="1200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B47365E-C99D-449D-A029-8F0283EB4825}"/>
              </a:ext>
            </a:extLst>
          </p:cNvPr>
          <p:cNvGrpSpPr/>
          <p:nvPr/>
        </p:nvGrpSpPr>
        <p:grpSpPr>
          <a:xfrm>
            <a:off x="125513" y="4478723"/>
            <a:ext cx="1393183" cy="283039"/>
            <a:chOff x="994871" y="2977373"/>
            <a:chExt cx="1393183" cy="283039"/>
          </a:xfrm>
        </p:grpSpPr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464E4C5B-0805-42D3-9F1E-6BA55C2359E4}"/>
                </a:ext>
              </a:extLst>
            </p:cNvPr>
            <p:cNvCxnSpPr>
              <a:cxnSpLocks/>
            </p:cNvCxnSpPr>
            <p:nvPr/>
          </p:nvCxnSpPr>
          <p:spPr>
            <a:xfrm>
              <a:off x="1365251" y="3260412"/>
              <a:ext cx="645966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28B385F-77CB-4067-94E0-6E471A886CCD}"/>
                </a:ext>
              </a:extLst>
            </p:cNvPr>
            <p:cNvSpPr txBox="1"/>
            <p:nvPr/>
          </p:nvSpPr>
          <p:spPr>
            <a:xfrm>
              <a:off x="994871" y="2977373"/>
              <a:ext cx="13931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/>
                <a:t>LBP_Mode_n0[N,2]</a:t>
              </a:r>
              <a:endParaRPr lang="en-US" altLang="zh-TW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56892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9BDC0-3EBE-4F40-9EE5-934362D17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666" y="9525"/>
            <a:ext cx="3640667" cy="1325563"/>
          </a:xfrm>
        </p:spPr>
        <p:txBody>
          <a:bodyPr/>
          <a:lstStyle/>
          <a:p>
            <a:pPr algn="ctr"/>
            <a:r>
              <a:rPr lang="en-US" altLang="zh-TW" dirty="0"/>
              <a:t>Flowchart</a:t>
            </a:r>
            <a:endParaRPr lang="zh-TW" alt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01004C-80D1-44C9-9C00-597481C06110}"/>
              </a:ext>
            </a:extLst>
          </p:cNvPr>
          <p:cNvSpPr/>
          <p:nvPr/>
        </p:nvSpPr>
        <p:spPr>
          <a:xfrm>
            <a:off x="960883" y="9525"/>
            <a:ext cx="3726000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dirty="0"/>
              <a:t>開始 </a:t>
            </a:r>
            <a:r>
              <a:rPr lang="en-US" altLang="zh-TW" sz="1600" dirty="0"/>
              <a:t>(</a:t>
            </a:r>
            <a:r>
              <a:rPr lang="zh-TW" altLang="en-US" sz="1600" dirty="0"/>
              <a:t>原圖輸入</a:t>
            </a:r>
            <a:r>
              <a:rPr lang="en-US" altLang="zh-TW" sz="1600" dirty="0"/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7FDEB7-DE47-4FC0-9EF1-6070F5F8E577}"/>
              </a:ext>
            </a:extLst>
          </p:cNvPr>
          <p:cNvSpPr/>
          <p:nvPr/>
        </p:nvSpPr>
        <p:spPr>
          <a:xfrm>
            <a:off x="960883" y="481952"/>
            <a:ext cx="3726000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Grayscale</a:t>
            </a:r>
            <a:r>
              <a:rPr lang="zh-TW" altLang="en-US" sz="1600" dirty="0"/>
              <a:t>處理</a:t>
            </a:r>
            <a:endParaRPr lang="en-US" altLang="zh-TW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A18C2B-DED5-4C83-8580-ADA401DDE0A9}"/>
              </a:ext>
            </a:extLst>
          </p:cNvPr>
          <p:cNvSpPr/>
          <p:nvPr/>
        </p:nvSpPr>
        <p:spPr>
          <a:xfrm>
            <a:off x="961225" y="954380"/>
            <a:ext cx="3726648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/>
              <a:t>Sobel</a:t>
            </a:r>
            <a:r>
              <a:rPr lang="zh-TW" altLang="en-US" sz="1600" dirty="0"/>
              <a:t>處理</a:t>
            </a:r>
            <a:endParaRPr lang="en-US" altLang="zh-TW" sz="16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2026F7-0D05-4483-A5A5-6FCE1830CFD0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2823883" y="297525"/>
            <a:ext cx="0" cy="184427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03CBC6F-6C43-4099-9738-77B5AAB360F9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2823883" y="769952"/>
            <a:ext cx="666" cy="184428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BEBB8EE-6B4C-48D8-A6E6-4F9172B3E65B}"/>
              </a:ext>
            </a:extLst>
          </p:cNvPr>
          <p:cNvSpPr/>
          <p:nvPr/>
        </p:nvSpPr>
        <p:spPr>
          <a:xfrm>
            <a:off x="960231" y="3074678"/>
            <a:ext cx="3726652" cy="6050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/>
              <a:t>Get_kernel</a:t>
            </a:r>
            <a:r>
              <a:rPr lang="en-US" altLang="zh-TW" sz="1600" dirty="0"/>
              <a:t>(Sobel, k=</a:t>
            </a:r>
            <a:r>
              <a:rPr lang="en-US" altLang="zh-TW" sz="1600" dirty="0" err="1"/>
              <a:t>BFS_kernel_size</a:t>
            </a:r>
            <a:r>
              <a:rPr lang="en-US" altLang="zh-TW" sz="1600" dirty="0"/>
              <a:t>, c=[last index + x, middle index + y])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B520D8-C19E-4428-B4C7-230387247968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2824549" y="1242380"/>
            <a:ext cx="0" cy="36639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DAFC887-9AA2-4755-80A1-C77E6A4CB936}"/>
              </a:ext>
            </a:extLst>
          </p:cNvPr>
          <p:cNvSpPr/>
          <p:nvPr/>
        </p:nvSpPr>
        <p:spPr>
          <a:xfrm>
            <a:off x="961223" y="1608774"/>
            <a:ext cx="3726652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dirty="0"/>
              <a:t>宣告</a:t>
            </a:r>
            <a:r>
              <a:rPr lang="en-US" altLang="zh-TW" sz="1600" dirty="0" err="1"/>
              <a:t>is_road_array</a:t>
            </a:r>
            <a:r>
              <a:rPr lang="en-US" altLang="zh-TW" sz="1600" dirty="0"/>
              <a:t> (bool array) = [0,…,0]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E27B449-149E-43CD-B91D-ADA0B19DACC2}"/>
              </a:ext>
            </a:extLst>
          </p:cNvPr>
          <p:cNvCxnSpPr>
            <a:cxnSpLocks/>
            <a:stCxn id="23" idx="2"/>
            <a:endCxn id="83" idx="0"/>
          </p:cNvCxnSpPr>
          <p:nvPr/>
        </p:nvCxnSpPr>
        <p:spPr>
          <a:xfrm flipH="1">
            <a:off x="2823883" y="1896774"/>
            <a:ext cx="666" cy="15844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7DA376BD-5F67-457B-B8BF-E49532F0A01C}"/>
              </a:ext>
            </a:extLst>
          </p:cNvPr>
          <p:cNvSpPr/>
          <p:nvPr/>
        </p:nvSpPr>
        <p:spPr>
          <a:xfrm>
            <a:off x="960231" y="3971592"/>
            <a:ext cx="3726652" cy="3904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/>
              <a:t>Get_LBP</a:t>
            </a:r>
            <a:r>
              <a:rPr lang="en-US" altLang="zh-TW" sz="1600" dirty="0"/>
              <a:t>(</a:t>
            </a:r>
            <a:r>
              <a:rPr lang="en-US" altLang="zh-TW" sz="1600" dirty="0" err="1"/>
              <a:t>kernel.Kernel_array</a:t>
            </a:r>
            <a:r>
              <a:rPr lang="en-US" altLang="zh-TW" sz="1600" dirty="0"/>
              <a:t>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1C18D14-183A-4C6D-A8B3-1833631A2BFB}"/>
              </a:ext>
            </a:extLst>
          </p:cNvPr>
          <p:cNvSpPr/>
          <p:nvPr/>
        </p:nvSpPr>
        <p:spPr>
          <a:xfrm>
            <a:off x="960233" y="4792046"/>
            <a:ext cx="3726648" cy="3904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/>
              <a:t>sort_N_max_hist</a:t>
            </a:r>
            <a:r>
              <a:rPr lang="en-US" altLang="zh-TW" sz="1600" dirty="0"/>
              <a:t>(</a:t>
            </a:r>
            <a:r>
              <a:rPr lang="en-US" altLang="zh-TW" sz="1600" dirty="0" err="1"/>
              <a:t>LBP_hist</a:t>
            </a:r>
            <a:r>
              <a:rPr lang="en-US" altLang="zh-TW" sz="1600" dirty="0"/>
              <a:t>)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D5C4F36-821C-4DA3-B749-8F918E0A9F29}"/>
              </a:ext>
            </a:extLst>
          </p:cNvPr>
          <p:cNvCxnSpPr>
            <a:cxnSpLocks/>
            <a:endCxn id="55" idx="0"/>
          </p:cNvCxnSpPr>
          <p:nvPr/>
        </p:nvCxnSpPr>
        <p:spPr>
          <a:xfrm>
            <a:off x="2823555" y="4362056"/>
            <a:ext cx="2" cy="42999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Flowchart: Decision 82">
            <a:extLst>
              <a:ext uri="{FF2B5EF4-FFF2-40B4-BE49-F238E27FC236}">
                <a16:creationId xmlns:a16="http://schemas.microsoft.com/office/drawing/2014/main" id="{92C009E0-7CD8-4022-86C7-20B3A1EA2FFC}"/>
              </a:ext>
            </a:extLst>
          </p:cNvPr>
          <p:cNvSpPr/>
          <p:nvPr/>
        </p:nvSpPr>
        <p:spPr>
          <a:xfrm>
            <a:off x="1035235" y="2055217"/>
            <a:ext cx="3577296" cy="707161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(u16) </a:t>
            </a:r>
            <a:r>
              <a:rPr lang="en-US" altLang="zh-TW" sz="1200" dirty="0" err="1"/>
              <a:t>is_road_array</a:t>
            </a:r>
            <a:r>
              <a:rPr lang="en-US" altLang="zh-TW" sz="1200" dirty="0"/>
              <a:t>== 0?</a:t>
            </a:r>
            <a:endParaRPr lang="zh-TW" altLang="en-US" sz="1200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234A46B4-49EB-429C-9E4B-C738F8710E54}"/>
              </a:ext>
            </a:extLst>
          </p:cNvPr>
          <p:cNvCxnSpPr>
            <a:cxnSpLocks/>
            <a:stCxn id="15" idx="2"/>
            <a:endCxn id="52" idx="0"/>
          </p:cNvCxnSpPr>
          <p:nvPr/>
        </p:nvCxnSpPr>
        <p:spPr>
          <a:xfrm>
            <a:off x="2823557" y="3679754"/>
            <a:ext cx="0" cy="291838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40DCC93-E6BC-462E-9983-E2F578BF46F4}"/>
              </a:ext>
            </a:extLst>
          </p:cNvPr>
          <p:cNvSpPr txBox="1"/>
          <p:nvPr/>
        </p:nvSpPr>
        <p:spPr>
          <a:xfrm>
            <a:off x="2914683" y="2736124"/>
            <a:ext cx="8406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true</a:t>
            </a:r>
            <a:endParaRPr lang="zh-TW" altLang="en-US" sz="1600" dirty="0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0CCB0D99-BDB1-4EF3-8854-CE97CC8CE263}"/>
              </a:ext>
            </a:extLst>
          </p:cNvPr>
          <p:cNvSpPr/>
          <p:nvPr/>
        </p:nvSpPr>
        <p:spPr>
          <a:xfrm>
            <a:off x="960231" y="5490810"/>
            <a:ext cx="3726652" cy="3904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/>
              <a:t>count_dist</a:t>
            </a:r>
            <a:r>
              <a:rPr lang="en-US" altLang="zh-TW" sz="1600" dirty="0"/>
              <a:t>(LBP_mode_n0, LBP_mode_n1)</a:t>
            </a:r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81C56CF0-9324-4161-8D95-0283801F479A}"/>
              </a:ext>
            </a:extLst>
          </p:cNvPr>
          <p:cNvCxnSpPr>
            <a:cxnSpLocks/>
            <a:endCxn id="15" idx="3"/>
          </p:cNvCxnSpPr>
          <p:nvPr/>
        </p:nvCxnSpPr>
        <p:spPr>
          <a:xfrm flipV="1">
            <a:off x="2812473" y="3377216"/>
            <a:ext cx="1874410" cy="1190229"/>
          </a:xfrm>
          <a:prstGeom prst="bentConnector3">
            <a:avLst>
              <a:gd name="adj1" fmla="val 112196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399D71FB-DF62-41B6-8CCA-3FA09D500032}"/>
              </a:ext>
            </a:extLst>
          </p:cNvPr>
          <p:cNvCxnSpPr>
            <a:cxnSpLocks/>
            <a:stCxn id="83" idx="2"/>
            <a:endCxn id="15" idx="0"/>
          </p:cNvCxnSpPr>
          <p:nvPr/>
        </p:nvCxnSpPr>
        <p:spPr>
          <a:xfrm flipH="1">
            <a:off x="2823557" y="2762378"/>
            <a:ext cx="326" cy="3123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987EF29C-F6BA-4D16-A361-AA90DF9402C6}"/>
              </a:ext>
            </a:extLst>
          </p:cNvPr>
          <p:cNvSpPr txBox="1"/>
          <p:nvPr/>
        </p:nvSpPr>
        <p:spPr>
          <a:xfrm>
            <a:off x="2914521" y="3633038"/>
            <a:ext cx="8406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kernel</a:t>
            </a:r>
            <a:endParaRPr lang="zh-TW" altLang="en-US" sz="16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AEF64F-0982-47EE-90C3-AEC2332079BB}"/>
              </a:ext>
            </a:extLst>
          </p:cNvPr>
          <p:cNvSpPr txBox="1"/>
          <p:nvPr/>
        </p:nvSpPr>
        <p:spPr>
          <a:xfrm flipH="1">
            <a:off x="2914521" y="663919"/>
            <a:ext cx="1255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 err="1"/>
              <a:t>Gray_img</a:t>
            </a:r>
            <a:r>
              <a:rPr lang="en-US" altLang="zh-TW" sz="1800" dirty="0"/>
              <a:t> </a:t>
            </a:r>
            <a:endParaRPr lang="zh-TW" alt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2F810FF-1A79-4D9C-BCE2-D47C6A4C6F23}"/>
              </a:ext>
            </a:extLst>
          </p:cNvPr>
          <p:cNvSpPr txBox="1"/>
          <p:nvPr/>
        </p:nvSpPr>
        <p:spPr>
          <a:xfrm flipH="1">
            <a:off x="2914521" y="1149922"/>
            <a:ext cx="1255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 err="1"/>
              <a:t>Sobel_img</a:t>
            </a:r>
            <a:r>
              <a:rPr lang="en-US" altLang="zh-TW" sz="1800" dirty="0"/>
              <a:t> </a:t>
            </a:r>
            <a:endParaRPr lang="zh-TW" alt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2FF6418-58DC-4429-AB3C-C4C4F53B8254}"/>
              </a:ext>
            </a:extLst>
          </p:cNvPr>
          <p:cNvSpPr txBox="1"/>
          <p:nvPr/>
        </p:nvSpPr>
        <p:spPr>
          <a:xfrm flipH="1">
            <a:off x="2914519" y="175514"/>
            <a:ext cx="14423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 err="1"/>
              <a:t>Source_img</a:t>
            </a:r>
            <a:endParaRPr lang="zh-TW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E6ED0D1-96E4-4C2F-9FD7-0F790D781551}"/>
              </a:ext>
            </a:extLst>
          </p:cNvPr>
          <p:cNvSpPr txBox="1"/>
          <p:nvPr/>
        </p:nvSpPr>
        <p:spPr>
          <a:xfrm>
            <a:off x="1650495" y="4311488"/>
            <a:ext cx="13257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LBP_hist_n0</a:t>
            </a:r>
            <a:endParaRPr lang="zh-TW" altLang="en-US" sz="1600" dirty="0"/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E97F150-6F7A-4B7F-96DD-2B0D2B8A9E1E}"/>
              </a:ext>
            </a:extLst>
          </p:cNvPr>
          <p:cNvCxnSpPr>
            <a:cxnSpLocks/>
            <a:stCxn id="55" idx="2"/>
            <a:endCxn id="125" idx="0"/>
          </p:cNvCxnSpPr>
          <p:nvPr/>
        </p:nvCxnSpPr>
        <p:spPr>
          <a:xfrm>
            <a:off x="2823557" y="5182510"/>
            <a:ext cx="0" cy="3083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4BB73DC-C0F5-4862-944D-02908B746B04}"/>
              </a:ext>
            </a:extLst>
          </p:cNvPr>
          <p:cNvSpPr txBox="1"/>
          <p:nvPr/>
        </p:nvSpPr>
        <p:spPr>
          <a:xfrm>
            <a:off x="4931580" y="3047501"/>
            <a:ext cx="10030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Increment and decrement x y</a:t>
            </a:r>
            <a:endParaRPr lang="zh-TW" altLang="en-US" sz="14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EF8B242-F077-4149-9A7B-50A394FEE7C5}"/>
              </a:ext>
            </a:extLst>
          </p:cNvPr>
          <p:cNvSpPr txBox="1"/>
          <p:nvPr/>
        </p:nvSpPr>
        <p:spPr>
          <a:xfrm>
            <a:off x="2834642" y="4318234"/>
            <a:ext cx="12348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LBP_hist_n1</a:t>
            </a:r>
            <a:endParaRPr lang="zh-TW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C449207-99A5-488B-83F1-A41179FFA822}"/>
              </a:ext>
            </a:extLst>
          </p:cNvPr>
          <p:cNvSpPr txBox="1"/>
          <p:nvPr/>
        </p:nvSpPr>
        <p:spPr>
          <a:xfrm>
            <a:off x="2834642" y="5136980"/>
            <a:ext cx="16297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LBP</a:t>
            </a:r>
            <a:r>
              <a:rPr lang="en-US" altLang="zh-TW" sz="1600"/>
              <a:t>_mode</a:t>
            </a:r>
            <a:r>
              <a:rPr lang="en-US" altLang="zh-TW" sz="1600" dirty="0"/>
              <a:t>_n1</a:t>
            </a:r>
            <a:endParaRPr lang="zh-TW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8CD0D8D-0A95-47A2-B7A7-078D8199FB6A}"/>
              </a:ext>
            </a:extLst>
          </p:cNvPr>
          <p:cNvSpPr txBox="1"/>
          <p:nvPr/>
        </p:nvSpPr>
        <p:spPr>
          <a:xfrm>
            <a:off x="1420014" y="5127442"/>
            <a:ext cx="16297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LBP_mode_n0</a:t>
            </a:r>
            <a:endParaRPr lang="zh-TW" altLang="en-US" sz="1600" dirty="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5930C0C-3DCF-4FA4-A04A-0AFDF7E0B2FE}"/>
              </a:ext>
            </a:extLst>
          </p:cNvPr>
          <p:cNvSpPr/>
          <p:nvPr/>
        </p:nvSpPr>
        <p:spPr>
          <a:xfrm>
            <a:off x="960229" y="6088048"/>
            <a:ext cx="3726652" cy="450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 err="1"/>
              <a:t>dist_compare</a:t>
            </a:r>
            <a:r>
              <a:rPr lang="en-US" altLang="zh-TW" sz="1600" dirty="0"/>
              <a:t>(</a:t>
            </a:r>
            <a:r>
              <a:rPr lang="en-US" altLang="zh-TW" sz="1800" kern="12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dist</a:t>
            </a:r>
            <a:r>
              <a:rPr lang="en-US" altLang="zh-TW" sz="1800" kern="12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, *Mask)</a:t>
            </a:r>
            <a:endParaRPr lang="en-US" altLang="zh-TW" sz="16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4FBDF1E-8A73-4A8E-9CF5-716B9EE38315}"/>
              </a:ext>
            </a:extLst>
          </p:cNvPr>
          <p:cNvSpPr txBox="1"/>
          <p:nvPr/>
        </p:nvSpPr>
        <p:spPr>
          <a:xfrm>
            <a:off x="2915785" y="5771430"/>
            <a:ext cx="57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dist</a:t>
            </a:r>
            <a:endParaRPr lang="zh-TW" altLang="en-US" sz="1600" dirty="0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B703F19E-CF5F-41E8-B5CE-480573B19062}"/>
              </a:ext>
            </a:extLst>
          </p:cNvPr>
          <p:cNvSpPr/>
          <p:nvPr/>
        </p:nvSpPr>
        <p:spPr>
          <a:xfrm>
            <a:off x="7737208" y="2213566"/>
            <a:ext cx="3726652" cy="3904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dirty="0"/>
              <a:t>結束</a:t>
            </a:r>
            <a:endParaRPr lang="en-US" altLang="zh-TW" sz="1600" dirty="0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B594E7A-CFF6-4378-BD3D-83A80DBE96F8}"/>
              </a:ext>
            </a:extLst>
          </p:cNvPr>
          <p:cNvCxnSpPr>
            <a:cxnSpLocks/>
            <a:stCxn id="125" idx="2"/>
            <a:endCxn id="106" idx="0"/>
          </p:cNvCxnSpPr>
          <p:nvPr/>
        </p:nvCxnSpPr>
        <p:spPr>
          <a:xfrm flipH="1">
            <a:off x="2823555" y="5881274"/>
            <a:ext cx="2" cy="20677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F5CADE7-34FD-45B3-99D7-B7F708C7F395}"/>
              </a:ext>
            </a:extLst>
          </p:cNvPr>
          <p:cNvCxnSpPr>
            <a:cxnSpLocks/>
            <a:stCxn id="106" idx="2"/>
            <a:endCxn id="83" idx="1"/>
          </p:cNvCxnSpPr>
          <p:nvPr/>
        </p:nvCxnSpPr>
        <p:spPr>
          <a:xfrm rot="5400000" flipH="1">
            <a:off x="-135546" y="3579579"/>
            <a:ext cx="4129882" cy="1788320"/>
          </a:xfrm>
          <a:prstGeom prst="bentConnector4">
            <a:avLst>
              <a:gd name="adj1" fmla="val -5535"/>
              <a:gd name="adj2" fmla="val 116977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515FADF7-95BD-4B21-A512-2AF5C550A747}"/>
              </a:ext>
            </a:extLst>
          </p:cNvPr>
          <p:cNvSpPr txBox="1"/>
          <p:nvPr/>
        </p:nvSpPr>
        <p:spPr>
          <a:xfrm>
            <a:off x="699319" y="6440405"/>
            <a:ext cx="1446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is_road_array</a:t>
            </a:r>
            <a:endParaRPr lang="zh-TW" altLang="en-US" sz="1600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8CDBE494-50C7-49EB-B938-652B06A593C5}"/>
              </a:ext>
            </a:extLst>
          </p:cNvPr>
          <p:cNvCxnSpPr>
            <a:cxnSpLocks/>
          </p:cNvCxnSpPr>
          <p:nvPr/>
        </p:nvCxnSpPr>
        <p:spPr>
          <a:xfrm flipH="1">
            <a:off x="4686881" y="6355554"/>
            <a:ext cx="494719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8289AC47-94A1-445A-8207-2E246A60F1D6}"/>
              </a:ext>
            </a:extLst>
          </p:cNvPr>
          <p:cNvSpPr txBox="1"/>
          <p:nvPr/>
        </p:nvSpPr>
        <p:spPr>
          <a:xfrm>
            <a:off x="5181600" y="5678924"/>
            <a:ext cx="178832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kern="12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Kernel.start_x</a:t>
            </a:r>
            <a:endParaRPr lang="en-US" altLang="zh-TW" sz="1400" dirty="0"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kern="12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Kernel.start_y</a:t>
            </a:r>
            <a:endParaRPr lang="en-US" altLang="zh-TW" sz="1400" kern="12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dirty="0" err="1"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Kernel.</a:t>
            </a:r>
            <a:r>
              <a:rPr lang="en-US" altLang="zh-TW" sz="1400" kern="12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end_x</a:t>
            </a:r>
            <a:endParaRPr lang="en-US" altLang="zh-TW" sz="1400" dirty="0"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kern="12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Kernel.end_y</a:t>
            </a:r>
            <a:endParaRPr lang="en-US" altLang="zh-TW" sz="1400" kern="12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dirty="0"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Threshold</a:t>
            </a:r>
            <a:endParaRPr lang="zh-TW" altLang="en-US" sz="1400" dirty="0"/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0EA07DD1-9CD1-4249-BB34-67FA82E167DF}"/>
              </a:ext>
            </a:extLst>
          </p:cNvPr>
          <p:cNvCxnSpPr>
            <a:cxnSpLocks/>
          </p:cNvCxnSpPr>
          <p:nvPr/>
        </p:nvCxnSpPr>
        <p:spPr>
          <a:xfrm flipH="1">
            <a:off x="4686881" y="4989696"/>
            <a:ext cx="494719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B1C0466-B62C-44E9-967D-B66F6EEC2077}"/>
              </a:ext>
            </a:extLst>
          </p:cNvPr>
          <p:cNvSpPr txBox="1"/>
          <p:nvPr/>
        </p:nvSpPr>
        <p:spPr>
          <a:xfrm>
            <a:off x="5181600" y="4819750"/>
            <a:ext cx="17883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kern="12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</a:t>
            </a:r>
            <a:endParaRPr lang="zh-TW" altLang="en-US" sz="1400" dirty="0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696781C8-E9B0-4165-85B2-CD3012E03266}"/>
              </a:ext>
            </a:extLst>
          </p:cNvPr>
          <p:cNvCxnSpPr>
            <a:cxnSpLocks/>
            <a:endCxn id="52" idx="3"/>
          </p:cNvCxnSpPr>
          <p:nvPr/>
        </p:nvCxnSpPr>
        <p:spPr>
          <a:xfrm flipH="1">
            <a:off x="4686883" y="4166824"/>
            <a:ext cx="494717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CD7B2A1A-DD3B-4CF9-B90A-A9CD2BD08182}"/>
              </a:ext>
            </a:extLst>
          </p:cNvPr>
          <p:cNvSpPr txBox="1"/>
          <p:nvPr/>
        </p:nvSpPr>
        <p:spPr>
          <a:xfrm>
            <a:off x="5181600" y="4003711"/>
            <a:ext cx="7738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radius</a:t>
            </a:r>
            <a:endParaRPr lang="zh-TW" altLang="en-US" sz="1400" dirty="0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7F46ECC0-CFF8-40C5-A4E8-B56D1ED494E5}"/>
              </a:ext>
            </a:extLst>
          </p:cNvPr>
          <p:cNvCxnSpPr>
            <a:cxnSpLocks/>
            <a:stCxn id="83" idx="3"/>
            <a:endCxn id="117" idx="1"/>
          </p:cNvCxnSpPr>
          <p:nvPr/>
        </p:nvCxnSpPr>
        <p:spPr>
          <a:xfrm>
            <a:off x="4612531" y="2408798"/>
            <a:ext cx="3124677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C47030C6-9932-458D-8250-324BFD089C75}"/>
              </a:ext>
            </a:extLst>
          </p:cNvPr>
          <p:cNvGrpSpPr/>
          <p:nvPr/>
        </p:nvGrpSpPr>
        <p:grpSpPr>
          <a:xfrm>
            <a:off x="5965044" y="3453174"/>
            <a:ext cx="1045080" cy="322200"/>
            <a:chOff x="6158541" y="3522988"/>
            <a:chExt cx="104508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4B4AA2F-275E-4E82-8CC3-400FE065A2DA}"/>
                    </a:ext>
                  </a:extLst>
                </p14:cNvPr>
                <p14:cNvContentPartPr/>
                <p14:nvPr/>
              </p14:nvContentPartPr>
              <p14:xfrm>
                <a:off x="6158541" y="3522988"/>
                <a:ext cx="999360" cy="1918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4B4AA2F-275E-4E82-8CC3-400FE065A2D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40901" y="3505348"/>
                  <a:ext cx="10350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579CBBF-005C-4EBC-A9D7-BA217B4D27F3}"/>
                    </a:ext>
                  </a:extLst>
                </p14:cNvPr>
                <p14:cNvContentPartPr/>
                <p14:nvPr/>
              </p14:nvContentPartPr>
              <p14:xfrm>
                <a:off x="6962061" y="3567988"/>
                <a:ext cx="241560" cy="2772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579CBBF-005C-4EBC-A9D7-BA217B4D27F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44061" y="3549988"/>
                  <a:ext cx="277200" cy="3128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1" name="TextBox 190">
            <a:extLst>
              <a:ext uri="{FF2B5EF4-FFF2-40B4-BE49-F238E27FC236}">
                <a16:creationId xmlns:a16="http://schemas.microsoft.com/office/drawing/2014/main" id="{D69A194D-3738-4382-B6DF-614FD963D7E8}"/>
              </a:ext>
            </a:extLst>
          </p:cNvPr>
          <p:cNvSpPr txBox="1"/>
          <p:nvPr/>
        </p:nvSpPr>
        <p:spPr>
          <a:xfrm>
            <a:off x="7050525" y="3490972"/>
            <a:ext cx="27143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After getting the first LBP, move to surrounding kernel (BFS)</a:t>
            </a:r>
            <a:endParaRPr lang="zh-TW" altLang="en-US" sz="14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E678C31-B890-4640-BF35-1502B7C7D174}"/>
              </a:ext>
            </a:extLst>
          </p:cNvPr>
          <p:cNvSpPr txBox="1"/>
          <p:nvPr/>
        </p:nvSpPr>
        <p:spPr>
          <a:xfrm>
            <a:off x="5047963" y="2089693"/>
            <a:ext cx="20960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Image Result Mask[L,W]</a:t>
            </a:r>
            <a:endParaRPr lang="zh-TW" altLang="en-US" sz="1400" dirty="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5DD34427-39A7-4D27-988B-04E3E548BA13}"/>
              </a:ext>
            </a:extLst>
          </p:cNvPr>
          <p:cNvGrpSpPr/>
          <p:nvPr/>
        </p:nvGrpSpPr>
        <p:grpSpPr>
          <a:xfrm rot="20481870">
            <a:off x="4598436" y="1740547"/>
            <a:ext cx="2488952" cy="322200"/>
            <a:chOff x="6158541" y="3522988"/>
            <a:chExt cx="104508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9774CE7-FC41-4505-BDEF-CF03387FE82E}"/>
                    </a:ext>
                  </a:extLst>
                </p14:cNvPr>
                <p14:cNvContentPartPr/>
                <p14:nvPr/>
              </p14:nvContentPartPr>
              <p14:xfrm>
                <a:off x="6158541" y="3522988"/>
                <a:ext cx="999360" cy="1918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9774CE7-FC41-4505-BDEF-CF03387FE82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51132" y="3505348"/>
                  <a:ext cx="101433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575A7525-4B44-4D56-A59D-4E47EB014CA6}"/>
                    </a:ext>
                  </a:extLst>
                </p14:cNvPr>
                <p14:cNvContentPartPr/>
                <p14:nvPr/>
              </p14:nvContentPartPr>
              <p14:xfrm>
                <a:off x="6962061" y="3567988"/>
                <a:ext cx="241560" cy="2772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575A7525-4B44-4D56-A59D-4E47EB014CA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54498" y="3549988"/>
                  <a:ext cx="256535" cy="3128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9" name="TextBox 198">
            <a:extLst>
              <a:ext uri="{FF2B5EF4-FFF2-40B4-BE49-F238E27FC236}">
                <a16:creationId xmlns:a16="http://schemas.microsoft.com/office/drawing/2014/main" id="{3A5B097F-0C17-4B6E-A18D-B2731CB98B8C}"/>
              </a:ext>
            </a:extLst>
          </p:cNvPr>
          <p:cNvSpPr txBox="1"/>
          <p:nvPr/>
        </p:nvSpPr>
        <p:spPr>
          <a:xfrm>
            <a:off x="7147128" y="1232951"/>
            <a:ext cx="3358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Using u16 </a:t>
            </a:r>
            <a:r>
              <a:rPr lang="en-US" altLang="zh-TW" sz="1400" dirty="0" err="1"/>
              <a:t>bitshift</a:t>
            </a:r>
            <a:r>
              <a:rPr lang="en-US" altLang="zh-TW" sz="1400" dirty="0"/>
              <a:t> left OR 1 or 0 to detect whether ALL adjacent kernels in NOT a road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44777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3993</TotalTime>
  <Words>953</Words>
  <Application>Microsoft Office PowerPoint</Application>
  <PresentationFormat>Widescreen</PresentationFormat>
  <Paragraphs>165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Image Segmentation of Concrete Roads</vt:lpstr>
      <vt:lpstr>Requirement</vt:lpstr>
      <vt:lpstr>Breakdown</vt:lpstr>
      <vt:lpstr>Architecture Diagram</vt:lpstr>
      <vt:lpstr>API structure</vt:lpstr>
      <vt:lpstr>API structure</vt:lpstr>
      <vt:lpstr>API structure</vt:lpstr>
      <vt:lpstr>API structure</vt:lpstr>
      <vt:lpstr>API structure</vt:lpstr>
      <vt:lpstr>API structure</vt:lpstr>
      <vt:lpstr>PowerPoint Presentation</vt:lpstr>
      <vt:lpstr>Architecture Diagram</vt:lpstr>
      <vt:lpstr>Flowchart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Segmentation of Concrete Roads</dc:title>
  <dc:creator>Kenny Gun</dc:creator>
  <cp:lastModifiedBy>Kenny Gun</cp:lastModifiedBy>
  <cp:revision>12</cp:revision>
  <dcterms:created xsi:type="dcterms:W3CDTF">2024-10-19T02:09:08Z</dcterms:created>
  <dcterms:modified xsi:type="dcterms:W3CDTF">2024-11-13T12:23:34Z</dcterms:modified>
</cp:coreProperties>
</file>